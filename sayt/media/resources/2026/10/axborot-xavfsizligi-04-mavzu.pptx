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 / 12</a:t>
            </a:r>
          </a:p>
        </p:txBody>
      </p:sp>
      <p:sp>
        <p:nvSpPr>
          <p:cNvPr id="34" name="Round Same Side Corner Rectangle 33"/>
          <p:cNvSpPr/>
          <p:nvPr/>
        </p:nvSpPr>
        <p:spPr>
          <a:xfrm>
            <a:off x="731520" y="777240"/>
            <a:ext cx="3291840" cy="51206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0160" y="2148840"/>
            <a:ext cx="2282342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600"/>
              </a:lnSpc>
            </a:pPr>
            <a:r>
              <a:rPr sz="4600" b="1">
                <a:solidFill>
                  <a:srgbClr val="0E7C7B"/>
                </a:solidFill>
                <a:latin typeface="Georgia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114800"/>
            <a:ext cx="3043123" cy="2679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50"/>
              </a:lnSpc>
            </a:pPr>
            <a:r>
              <a:rPr sz="1400" b="1">
                <a:solidFill>
                  <a:srgbClr val="F4EBDD"/>
                </a:solidFill>
                <a:latin typeface="Segoe UI"/>
              </a:rPr>
              <a:t>MAVZU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434840"/>
            <a:ext cx="304312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300" b="0">
                <a:solidFill>
                  <a:srgbClr val="F4EBDD"/>
                </a:solidFill>
                <a:latin typeface="Segoe UI"/>
              </a:rPr>
              <a:t>Amaliy · 2 soat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1097280"/>
            <a:ext cx="716370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0E7C7B"/>
                </a:solidFill>
                <a:latin typeface="Segoe UI"/>
              </a:rPr>
              <a:t>AXBOROT XAVFSIZLIGI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1532255"/>
            <a:ext cx="7163702" cy="175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Axborot xavfsizligi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tamoyillarini real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vaziyatlarda aniqlash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3467735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0" y="3787774"/>
            <a:ext cx="7163702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Oydin Tashtemirova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4178427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Maxsus fan o‘qituvchisi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4489704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Piskent tumani 1-son texnikumi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2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0E7C7B"/>
                </a:solidFill>
                <a:latin typeface="Segoe UI"/>
              </a:rPr>
              <a:t>4-MAVZU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Mashg‘ulot rejasi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47356" y="2029574"/>
            <a:ext cx="465606" cy="46560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2700000">
            <a:off x="1047356" y="2029574"/>
            <a:ext cx="465606" cy="46560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207949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207949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Vaziyatli masalalarni tahlil qilish usuli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310819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47356" y="3492614"/>
            <a:ext cx="465606" cy="46560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 rot="2700000">
            <a:off x="1047356" y="3492614"/>
            <a:ext cx="465606" cy="46560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354253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28800" y="354253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Amaliy ish: vaziyatlarda buzilgan tamoyilni aniqlash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57123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47356" y="4955654"/>
            <a:ext cx="465606" cy="46560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2700000">
            <a:off x="1047356" y="4955654"/>
            <a:ext cx="465606" cy="46560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5840" y="500557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500557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Himoya choralarini taklif qilish va natijalarni taqdim etish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3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0E7C7B"/>
                </a:solidFill>
                <a:latin typeface="Segoe UI"/>
              </a:rPr>
              <a:t>4-MAVZU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Maqsad va kutilayotgan natija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5181447" cy="8229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0E7C7B"/>
                </a:solidFill>
                <a:latin typeface="Segoe UI"/>
              </a:rPr>
              <a:t>MAQSAD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2376678"/>
            <a:ext cx="4723022" cy="22745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O‘quvchilarda real vaziyatlarni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tahlil qilib, qaysi xavfsizlik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tamoyili buzilganini aniqlash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va himoya choralarini tanlash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ko‘nikmasini shakllantirish.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78727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78727" y="1645158"/>
            <a:ext cx="5181447" cy="82296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8767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B9862A"/>
                </a:solidFill>
                <a:latin typeface="Segoe UI"/>
              </a:rPr>
              <a:t>KUTILAYOTGAN NATIJA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98767" y="2376678"/>
            <a:ext cx="4723022" cy="22745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O‘quvchilar vaziyatlarni CIA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triadasi asosida tahlil qiladi,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buzilgan tamoyilni asoslab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aniqlaydi va mos himoya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chorasini taklif qiladi.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4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0E7C7B"/>
                </a:solidFill>
                <a:latin typeface="Segoe UI"/>
              </a:rPr>
              <a:t>1-REJA · VAZIYATLI MASALALARNI TAHLIL QILISH USULI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Vaziyatni tahlil qilish bosqichlari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79959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772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60"/>
              </a:lnSpc>
            </a:pPr>
            <a:r>
              <a:rPr sz="2200" b="0">
                <a:solidFill>
                  <a:srgbClr val="3A4560"/>
                </a:solidFill>
                <a:latin typeface="Segoe UI"/>
              </a:rPr>
              <a:t>Real hayotdagi xavfsizlik hodisasini tahlil qilish uchun quyidagi savollarga javob</a:t>
            </a:r>
            <a:br/>
            <a:r>
              <a:rPr sz="2200" b="0">
                <a:solidFill>
                  <a:srgbClr val="3A4560"/>
                </a:solidFill>
                <a:latin typeface="Segoe UI"/>
              </a:rPr>
              <a:t>beriladi: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683169"/>
            <a:ext cx="109901" cy="109901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572766"/>
            <a:ext cx="10729862" cy="387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8"/>
              </a:lnSpc>
            </a:pPr>
            <a:r>
              <a:rPr sz="2100" b="1">
                <a:solidFill>
                  <a:srgbClr val="1B2A4A"/>
                </a:solidFill>
                <a:latin typeface="Segoe UI"/>
              </a:rPr>
              <a:t>Nima sodir bo‘ldi?: </a:t>
            </a:r>
            <a:r>
              <a:rPr sz="2100" b="0">
                <a:solidFill>
                  <a:srgbClr val="1B2A4A"/>
                </a:solidFill>
                <a:latin typeface="Segoe UI"/>
              </a:rPr>
              <a:t>Hodisaning qisqa tavsifi yoziladi.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170849"/>
            <a:ext cx="109901" cy="109901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060446"/>
            <a:ext cx="10729862" cy="387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8"/>
              </a:lnSpc>
            </a:pPr>
            <a:r>
              <a:rPr sz="2100" b="1">
                <a:solidFill>
                  <a:srgbClr val="1B2A4A"/>
                </a:solidFill>
                <a:latin typeface="Segoe UI"/>
              </a:rPr>
              <a:t>Qaysi axborot zarar ko‘rdi?: </a:t>
            </a:r>
            <a:r>
              <a:rPr sz="2100" b="0">
                <a:solidFill>
                  <a:srgbClr val="1B2A4A"/>
                </a:solidFill>
                <a:latin typeface="Segoe UI"/>
              </a:rPr>
              <a:t>Fayl, hisob, ma’lumotlar bazasi yoki xizmat aniqlanadi.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3658529"/>
            <a:ext cx="109901" cy="109901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3548126"/>
            <a:ext cx="10729862" cy="387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8"/>
              </a:lnSpc>
            </a:pPr>
            <a:r>
              <a:rPr sz="2100" b="1">
                <a:solidFill>
                  <a:srgbClr val="1B2A4A"/>
                </a:solidFill>
                <a:latin typeface="Segoe UI"/>
              </a:rPr>
              <a:t>Qaysi tamoyil buzildi?: </a:t>
            </a:r>
            <a:r>
              <a:rPr sz="2100" b="0">
                <a:solidFill>
                  <a:srgbClr val="1B2A4A"/>
                </a:solidFill>
                <a:latin typeface="Segoe UI"/>
              </a:rPr>
              <a:t>Konfidensiallik, yaxlitlik yoki foydalanuvchanlik.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4146209"/>
            <a:ext cx="109901" cy="109901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4035806"/>
            <a:ext cx="10729862" cy="387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8"/>
              </a:lnSpc>
            </a:pPr>
            <a:r>
              <a:rPr sz="2100" b="1">
                <a:solidFill>
                  <a:srgbClr val="1B2A4A"/>
                </a:solidFill>
                <a:latin typeface="Segoe UI"/>
              </a:rPr>
              <a:t>Sabab nima edi?: </a:t>
            </a:r>
            <a:r>
              <a:rPr sz="2100" b="0">
                <a:solidFill>
                  <a:srgbClr val="1B2A4A"/>
                </a:solidFill>
                <a:latin typeface="Segoe UI"/>
              </a:rPr>
              <a:t>Zaiflik: kuchsiz parol, yangilanmagan dastur, ehtiyotsizlik va hokazo.</a:t>
            </a:r>
          </a:p>
        </p:txBody>
      </p:sp>
      <p:sp>
        <p:nvSpPr>
          <p:cNvPr id="47" name="Rectangle 46"/>
          <p:cNvSpPr/>
          <p:nvPr/>
        </p:nvSpPr>
        <p:spPr>
          <a:xfrm rot="2700000">
            <a:off x="841161" y="4633889"/>
            <a:ext cx="109901" cy="109901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43000" y="4523486"/>
            <a:ext cx="10729862" cy="387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8"/>
              </a:lnSpc>
            </a:pPr>
            <a:r>
              <a:rPr sz="2100" b="1">
                <a:solidFill>
                  <a:srgbClr val="1B2A4A"/>
                </a:solidFill>
                <a:latin typeface="Segoe UI"/>
              </a:rPr>
              <a:t>Qanday himoya chorasi yordam beradi?: </a:t>
            </a:r>
            <a:r>
              <a:rPr sz="2100" b="0">
                <a:solidFill>
                  <a:srgbClr val="1B2A4A"/>
                </a:solidFill>
                <a:latin typeface="Segoe UI"/>
              </a:rPr>
              <a:t>Texnik va tashkiliy choralar taklif qilinadi.</a:t>
            </a:r>
          </a:p>
        </p:txBody>
      </p:sp>
      <p:sp>
        <p:nvSpPr>
          <p:cNvPr id="49" name="Rectangle 48"/>
          <p:cNvSpPr/>
          <p:nvPr/>
        </p:nvSpPr>
        <p:spPr>
          <a:xfrm rot="2700000">
            <a:off x="841161" y="5121569"/>
            <a:ext cx="109901" cy="109901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5011166"/>
            <a:ext cx="10729862" cy="728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8"/>
              </a:lnSpc>
            </a:pPr>
            <a:r>
              <a:rPr sz="2100" b="1">
                <a:solidFill>
                  <a:srgbClr val="1B2A4A"/>
                </a:solidFill>
                <a:latin typeface="Segoe UI"/>
              </a:rPr>
              <a:t>Keys-stadi: </a:t>
            </a:r>
            <a:r>
              <a:rPr sz="2100" b="0">
                <a:solidFill>
                  <a:srgbClr val="1B2A4A"/>
                </a:solidFill>
                <a:latin typeface="Segoe UI"/>
              </a:rPr>
              <a:t>real yoki real hayotga yaqin vaziyatni tahlil qilib, yechim topishga</a:t>
            </a:r>
            <a:br/>
            <a:r>
              <a:rPr sz="2100" b="0">
                <a:solidFill>
                  <a:srgbClr val="1B2A4A"/>
                </a:solidFill>
                <a:latin typeface="Segoe UI"/>
              </a:rPr>
              <a:t>asoslangan o‘qitish usuli.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0E7C7B"/>
                </a:solidFill>
                <a:latin typeface="Segoe UI"/>
              </a:rPr>
              <a:t>2-REJA · AMALIY ISH: VAZIYATLARDA BUZILGAN TAMOYILNI ANIQLASH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Vaziyatli masalalar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38684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359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Guruhlar quyidagi vaziyatlarni tahlil jadvaliga yozib chiqadi.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187448"/>
          <a:ext cx="10728654" cy="2907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0374"/>
                <a:gridCol w="9628280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№</a:t>
                      </a:r>
                    </a:p>
                  </a:txBody>
                  <a:tcPr marL="109728" marR="109728" marT="73152" marB="73152">
                    <a:solidFill>
                      <a:srgbClr val="0E7C7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Vaziyat</a:t>
                      </a:r>
                    </a:p>
                  </a:txBody>
                  <a:tcPr marL="109728" marR="109728" marT="73152" marB="73152">
                    <a:solidFill>
                      <a:srgbClr val="0E7C7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Hisobchi kompyuterini qulflamay tushlikka chiqdi, bu vaqtda begona…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Do‘konning internet-sayti ko‘p sonli soxta so‘rovlar sababli bir kun…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O‘quvchi elektron jurnalga kirish parolini bilib olib, o‘z bahosini…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Server qattiq diski buzildi, zaxira nusxa yo‘qligi sababli bir yillik…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Xodim «bank xodimi» deb tanishtirgan noma’lum shaxsga telefonda…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6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0E7C7B"/>
                </a:solidFill>
                <a:latin typeface="Segoe UI"/>
              </a:rPr>
              <a:t>2-REJA · AMALIY ISH: VAZIYATLARDA BUZILGAN TAMOYILNI ANIQLASH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Ishni bajarish tartibi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94931"/>
            <a:ext cx="109901" cy="109901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1">
                <a:solidFill>
                  <a:srgbClr val="1B2A4A"/>
                </a:solidFill>
                <a:latin typeface="Segoe UI"/>
              </a:rPr>
              <a:t>Guruhlarga bo‘linish.: </a:t>
            </a:r>
            <a:r>
              <a:rPr sz="2600" b="0">
                <a:solidFill>
                  <a:srgbClr val="1B2A4A"/>
                </a:solidFill>
                <a:latin typeface="Segoe UI"/>
              </a:rPr>
              <a:t>Sinf 4–5 kishilik guruhlarga bo‘linadi, har biri 2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ta vaziyat oladi.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786547"/>
            <a:ext cx="109901" cy="109901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636774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1">
                <a:solidFill>
                  <a:srgbClr val="1B2A4A"/>
                </a:solidFill>
                <a:latin typeface="Segoe UI"/>
              </a:rPr>
              <a:t>Tahlil.: </a:t>
            </a:r>
            <a:r>
              <a:rPr sz="2600" b="0">
                <a:solidFill>
                  <a:srgbClr val="1B2A4A"/>
                </a:solidFill>
                <a:latin typeface="Segoe UI"/>
              </a:rPr>
              <a:t>Har bir vaziyat oldingi bo‘limdagi savollar asosida tahlil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qilinadi.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778163"/>
            <a:ext cx="109901" cy="109901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628390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1">
                <a:solidFill>
                  <a:srgbClr val="1B2A4A"/>
                </a:solidFill>
                <a:latin typeface="Segoe UI"/>
              </a:rPr>
              <a:t>Jadvalni to‘ldirish.: </a:t>
            </a:r>
            <a:r>
              <a:rPr sz="2600" b="0">
                <a:solidFill>
                  <a:srgbClr val="1B2A4A"/>
                </a:solidFill>
                <a:latin typeface="Segoe UI"/>
              </a:rPr>
              <a:t>Buzilgan tamoyil, sabab va himoya chorasi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yoziladi.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7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0E7C7B"/>
                </a:solidFill>
                <a:latin typeface="Segoe UI"/>
              </a:rPr>
              <a:t>3-REJA · HIMOYA CHORALARINI TAKLIF QILISH VA NATIJALARNI TAQDIM ETISH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Tahlil jadvali namunasi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731520" y="1645158"/>
          <a:ext cx="10728653" cy="1453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6446"/>
                <a:gridCol w="2308697"/>
                <a:gridCol w="2444503"/>
                <a:gridCol w="4889007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Vaziyat</a:t>
                      </a:r>
                    </a:p>
                  </a:txBody>
                  <a:tcPr marL="109728" marR="109728" marT="73152" marB="73152">
                    <a:solidFill>
                      <a:srgbClr val="0E7C7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Buzilgan tamoyil</a:t>
                      </a:r>
                    </a:p>
                  </a:txBody>
                  <a:tcPr marL="109728" marR="109728" marT="73152" marB="73152">
                    <a:solidFill>
                      <a:srgbClr val="0E7C7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Sabab (zaiflik)</a:t>
                      </a:r>
                    </a:p>
                  </a:txBody>
                  <a:tcPr marL="109728" marR="109728" marT="73152" marB="73152">
                    <a:solidFill>
                      <a:srgbClr val="0E7C7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Himoya chorasi</a:t>
                      </a:r>
                    </a:p>
                  </a:txBody>
                  <a:tcPr marL="109728" marR="109728" marT="73152" marB="73152">
                    <a:solidFill>
                      <a:srgbClr val="0E7C7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Konfidensiallik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Ekran qulflanmagan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Win + L odati, avtomatik ekran qulfi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Foydalanuvchanlik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Zaxira nusxa yo‘q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Muntazam zaxiralash, RAID massiv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8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0E7C7B"/>
                </a:solidFill>
                <a:latin typeface="Segoe UI"/>
              </a:rPr>
              <a:t>3-REJA · HIMOYA CHORALARINI TAKLIF QILISH VA NATIJALARNI TAQDIM ETISH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Natijalarni taqdim etish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96469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937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Har bir guruh o‘z natijasini 2–3 daqiqada taqdim etadi. Boshqa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guruhlar savol beradi va baholaydi.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9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0E7C7B"/>
                </a:solidFill>
                <a:latin typeface="Segoe UI"/>
              </a:rPr>
              <a:t>3-REJA · HIMOYA CHORALARINI TAKLIF QILISH VA NATIJALARNI TAQDIM ETISH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Xulosa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8562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Amaliy ish natijasida o‘quvchilar xavfsizlik hodisalarining aksariyati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murakkab texnik hujum emas, oddiy ehtiyotsizlik oqibati ekanini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ko‘radilar. Demak, himoyaning muhim qismi — to‘g‘ri odatlarni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shakllantirish.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10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0E7C7B"/>
                </a:solidFill>
                <a:latin typeface="Segoe UI"/>
              </a:rPr>
              <a:t>4-MAVZU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Asosiy atamalar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4389882"/>
          </a:xfrm>
          <a:prstGeom prst="roundRect">
            <a:avLst>
              <a:gd name="adj" fmla="val 1666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73152" cy="438988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1809750"/>
            <a:ext cx="10682313" cy="3670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sz="2200" b="1">
                <a:solidFill>
                  <a:srgbClr val="1B2A4A"/>
                </a:solidFill>
                <a:latin typeface="Georgia"/>
              </a:rPr>
              <a:t>Keys-stadi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2222500"/>
            <a:ext cx="10682313" cy="359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Real yoki real hayotga yaqin vaziyatni tahlil qilib, yechim topishga asoslangan o‘qitish usuli.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11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0E7C7B"/>
                </a:solidFill>
                <a:latin typeface="Segoe UI"/>
              </a:rPr>
              <a:t>4-MAVZU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Mustahkamlash uchun savollar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5283" y="1720821"/>
            <a:ext cx="284537" cy="28453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700000">
            <a:off x="845283" y="1720821"/>
            <a:ext cx="284537" cy="28453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" y="175336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20" y="164515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Vaziyatni tahlil qilishda qanday savollarga javob beriladi?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5283" y="2332961"/>
            <a:ext cx="284537" cy="28453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 rot="2700000">
            <a:off x="845283" y="2332961"/>
            <a:ext cx="284537" cy="28453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236550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225729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Keys-stadi usuli nima?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283" y="2945101"/>
            <a:ext cx="284537" cy="28453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2700000">
            <a:off x="845283" y="2945101"/>
            <a:ext cx="284537" cy="28453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" y="297764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286943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Zaxira nusxa yo‘qligi qaysi tamoyilga xavf tug‘diradi?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5283" y="3557241"/>
            <a:ext cx="284537" cy="28453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2700000">
            <a:off x="845283" y="3557241"/>
            <a:ext cx="284537" cy="28453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" y="358978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17320" y="3481578"/>
            <a:ext cx="10206825" cy="904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Bir vaziyatda bir nechta tamoyil buzilishi mumkinmi? Misol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keltiring.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283" y="4598641"/>
            <a:ext cx="284537" cy="28453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 rot="2700000">
            <a:off x="845283" y="4598641"/>
            <a:ext cx="284537" cy="28453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6384" y="463118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17320" y="452297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SMS-kodni begona shaxsga aytish qanday oqibatlarga olib keladi?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12 / 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1505" y="1625937"/>
            <a:ext cx="1228684" cy="122868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5481505" y="1625937"/>
            <a:ext cx="1228684" cy="122868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3429000"/>
            <a:ext cx="11157801" cy="680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00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E’tiboringiz uchun rahmat!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251960"/>
            <a:ext cx="11157801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</a:pPr>
            <a:r>
              <a:rPr sz="2000" b="0">
                <a:solidFill>
                  <a:srgbClr val="3A4560"/>
                </a:solidFill>
                <a:latin typeface="Segoe UI"/>
              </a:rPr>
              <a:t>Savollaringiz bo‘lsa, marhamat.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892040"/>
            <a:ext cx="11157801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>
                <a:solidFill>
                  <a:srgbClr val="0E7C7B"/>
                </a:solidFill>
                <a:latin typeface="Segoe UI"/>
              </a:rPr>
              <a:t>Oydin Tashtemirova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4-mavzu. Axborot xavfsizligi tamoyillarini real vaziyatlarda aniqlash</dc:title>
  <dc:subject/>
  <dc:creator>Oydin Tashtemirova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