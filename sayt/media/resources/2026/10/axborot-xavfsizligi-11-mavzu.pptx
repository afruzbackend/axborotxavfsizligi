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Axborot xavfsizligi · 11-mavzu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1 / 10</a:t>
            </a:r>
          </a:p>
        </p:txBody>
      </p:sp>
      <p:sp>
        <p:nvSpPr>
          <p:cNvPr id="34" name="Round Same Side Corner Rectangle 33"/>
          <p:cNvSpPr/>
          <p:nvPr/>
        </p:nvSpPr>
        <p:spPr>
          <a:xfrm>
            <a:off x="731520" y="777240"/>
            <a:ext cx="3291840" cy="512064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1698430" y="1835590"/>
            <a:ext cx="1358019" cy="1358019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 rot="2700000">
            <a:off x="1698430" y="1835590"/>
            <a:ext cx="1358019" cy="1358019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80160" y="2148840"/>
            <a:ext cx="2282342" cy="629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4600"/>
              </a:lnSpc>
            </a:pPr>
            <a:r>
              <a:rPr sz="4600" b="1">
                <a:solidFill>
                  <a:srgbClr val="9E2A3A"/>
                </a:solidFill>
                <a:latin typeface="Georgia"/>
              </a:rPr>
              <a:t>11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" y="4114800"/>
            <a:ext cx="3043123" cy="2679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750"/>
              </a:lnSpc>
            </a:pPr>
            <a:r>
              <a:rPr sz="1400" b="1">
                <a:solidFill>
                  <a:srgbClr val="F4EBDD"/>
                </a:solidFill>
                <a:latin typeface="Segoe UI"/>
              </a:rPr>
              <a:t>MAVZU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14400" y="4434840"/>
            <a:ext cx="3043123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625"/>
              </a:lnSpc>
            </a:pPr>
            <a:r>
              <a:rPr sz="1300" b="0">
                <a:solidFill>
                  <a:srgbClr val="F4EBDD"/>
                </a:solidFill>
                <a:latin typeface="Segoe UI"/>
              </a:rPr>
              <a:t>Amaliy · 2 soat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0" y="1097280"/>
            <a:ext cx="7163702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300" b="1">
                <a:solidFill>
                  <a:srgbClr val="9E2A3A"/>
                </a:solidFill>
                <a:latin typeface="Segoe UI"/>
              </a:rPr>
              <a:t>AXBOROT XAVFSIZLIGI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1532255"/>
            <a:ext cx="7163702" cy="1183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4480"/>
              </a:lnSpc>
            </a:pPr>
            <a:r>
              <a:rPr sz="4000" b="1">
                <a:solidFill>
                  <a:srgbClr val="1B2A4A"/>
                </a:solidFill>
                <a:latin typeface="Georgia"/>
              </a:rPr>
              <a:t>Kompyuter tizimidagi</a:t>
            </a:r>
            <a:br/>
            <a:r>
              <a:rPr sz="4000" b="1">
                <a:solidFill>
                  <a:srgbClr val="1B2A4A"/>
                </a:solidFill>
                <a:latin typeface="Georgia"/>
              </a:rPr>
              <a:t>xavflarni aniqlash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0" y="2898775"/>
            <a:ext cx="1097280" cy="54864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0" y="3218815"/>
            <a:ext cx="7163702" cy="363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00"/>
              </a:lnSpc>
            </a:pPr>
            <a:r>
              <a:rPr sz="2000" b="1">
                <a:solidFill>
                  <a:srgbClr val="1B2A4A"/>
                </a:solidFill>
                <a:latin typeface="Segoe UI"/>
              </a:rPr>
              <a:t>Oydin Tashtemirova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0" y="3609467"/>
            <a:ext cx="7163702" cy="2838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5"/>
              </a:lnSpc>
            </a:pPr>
            <a:r>
              <a:rPr sz="1500" b="0">
                <a:solidFill>
                  <a:srgbClr val="6B6457"/>
                </a:solidFill>
                <a:latin typeface="Segoe UI"/>
              </a:rPr>
              <a:t>Maxsus fan o‘qituvchisi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0" y="3920744"/>
            <a:ext cx="7163702" cy="28384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75"/>
              </a:lnSpc>
            </a:pPr>
            <a:r>
              <a:rPr sz="1500" b="0">
                <a:solidFill>
                  <a:srgbClr val="6B6457"/>
                </a:solidFill>
                <a:latin typeface="Segoe UI"/>
              </a:rPr>
              <a:t>Piskent tumani 1-son texnikumi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Axborot xavfsizligi · 11-mavzu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2 / 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9E2A3A"/>
                </a:solidFill>
                <a:latin typeface="Segoe UI"/>
              </a:rPr>
              <a:t>11-MAVZU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Mashg‘ulot rejasi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731520" y="1645158"/>
            <a:ext cx="10728655" cy="1234440"/>
          </a:xfrm>
          <a:prstGeom prst="roundRect">
            <a:avLst>
              <a:gd name="adj" fmla="val 5925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1047356" y="2029574"/>
            <a:ext cx="465606" cy="465606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 rot="2700000">
            <a:off x="1047356" y="2029574"/>
            <a:ext cx="465606" cy="465606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5840" y="2079498"/>
            <a:ext cx="570585" cy="299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00"/>
              </a:lnSpc>
            </a:pPr>
            <a:r>
              <a:rPr sz="2000" b="1">
                <a:solidFill>
                  <a:srgbClr val="F4EBDD"/>
                </a:solidFill>
                <a:latin typeface="Georgia"/>
              </a:rPr>
              <a:t>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28800" y="2079498"/>
            <a:ext cx="9826435" cy="4114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>
                <a:solidFill>
                  <a:srgbClr val="1B2A4A"/>
                </a:solidFill>
                <a:latin typeface="Georgia"/>
              </a:rPr>
              <a:t>Kompyuter tizimidagi zaifliklarni izlash joylari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1520" y="3108198"/>
            <a:ext cx="10728655" cy="1234440"/>
          </a:xfrm>
          <a:prstGeom prst="roundRect">
            <a:avLst>
              <a:gd name="adj" fmla="val 5925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47356" y="3492614"/>
            <a:ext cx="465606" cy="465606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 rot="2700000">
            <a:off x="1047356" y="3492614"/>
            <a:ext cx="465606" cy="465606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05840" y="3542538"/>
            <a:ext cx="570585" cy="299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00"/>
              </a:lnSpc>
            </a:pPr>
            <a:r>
              <a:rPr sz="2000" b="1">
                <a:solidFill>
                  <a:srgbClr val="F4EBDD"/>
                </a:solidFill>
                <a:latin typeface="Georgia"/>
              </a:rPr>
              <a:t>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828800" y="3359658"/>
            <a:ext cx="9826435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>
                <a:solidFill>
                  <a:srgbClr val="1B2A4A"/>
                </a:solidFill>
                <a:latin typeface="Georgia"/>
              </a:rPr>
              <a:t>Amaliy ish: Windows vositalari yordamida zaifliklarni</a:t>
            </a:r>
            <a:br/>
            <a:r>
              <a:rPr sz="2400" b="1">
                <a:solidFill>
                  <a:srgbClr val="1B2A4A"/>
                </a:solidFill>
                <a:latin typeface="Georgia"/>
              </a:rPr>
              <a:t>aniqlash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31520" y="4571238"/>
            <a:ext cx="10728655" cy="1234440"/>
          </a:xfrm>
          <a:prstGeom prst="roundRect">
            <a:avLst>
              <a:gd name="adj" fmla="val 5925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047356" y="4955654"/>
            <a:ext cx="465606" cy="465606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 rot="2700000">
            <a:off x="1047356" y="4955654"/>
            <a:ext cx="465606" cy="465606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05840" y="5005578"/>
            <a:ext cx="570585" cy="299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00"/>
              </a:lnSpc>
            </a:pPr>
            <a:r>
              <a:rPr sz="2000" b="1">
                <a:solidFill>
                  <a:srgbClr val="F4EBDD"/>
                </a:solidFill>
                <a:latin typeface="Georgia"/>
              </a:rPr>
              <a:t>3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828800" y="5005578"/>
            <a:ext cx="9826435" cy="4114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>
                <a:solidFill>
                  <a:srgbClr val="1B2A4A"/>
                </a:solidFill>
                <a:latin typeface="Georgia"/>
              </a:rPr>
              <a:t>Aniqlangan xavflar ro‘yxatini tuzish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Axborot xavfsizligi · 11-mavzu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3 / 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9E2A3A"/>
                </a:solidFill>
                <a:latin typeface="Segoe UI"/>
              </a:rPr>
              <a:t>11-MAVZU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Maqsad va kutilayotgan natija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731520" y="1645158"/>
            <a:ext cx="5181447" cy="4344161"/>
          </a:xfrm>
          <a:prstGeom prst="roundRect">
            <a:avLst>
              <a:gd name="adj" fmla="val 1683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31520" y="1645158"/>
            <a:ext cx="5181447" cy="82296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51560" y="1965198"/>
            <a:ext cx="4723022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300" b="1">
                <a:solidFill>
                  <a:srgbClr val="9E2A3A"/>
                </a:solidFill>
                <a:latin typeface="Segoe UI"/>
              </a:rPr>
              <a:t>MAQSAD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51560" y="2376678"/>
            <a:ext cx="4723022" cy="2720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600" b="0">
                <a:solidFill>
                  <a:srgbClr val="3A4560"/>
                </a:solidFill>
                <a:latin typeface="Segoe UI"/>
              </a:rPr>
              <a:t>O‘quvchilarda Windows’ning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o‘rnatilgan vositalari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yordamida kompyuterdagi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zaifliklar va xavflarni aniqlash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hamda ularni ro‘yxatga olish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ko‘nikmasini shakllantirish.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78727" y="1645158"/>
            <a:ext cx="5181447" cy="4344161"/>
          </a:xfrm>
          <a:prstGeom prst="roundRect">
            <a:avLst>
              <a:gd name="adj" fmla="val 1683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278727" y="1645158"/>
            <a:ext cx="5181447" cy="82296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98767" y="1965198"/>
            <a:ext cx="4723022" cy="2520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625"/>
              </a:lnSpc>
            </a:pPr>
            <a:r>
              <a:rPr sz="1300" b="1">
                <a:solidFill>
                  <a:srgbClr val="B9862A"/>
                </a:solidFill>
                <a:latin typeface="Segoe UI"/>
              </a:rPr>
              <a:t>KUTILAYOTGAN NATIJA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98767" y="2376678"/>
            <a:ext cx="4723022" cy="27203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600" b="0">
                <a:solidFill>
                  <a:srgbClr val="3A4560"/>
                </a:solidFill>
                <a:latin typeface="Segoe UI"/>
              </a:rPr>
              <a:t>O‘quvchilar foydalanuvchi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hisoblari, ochiq portlar,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avtoyuklanish dasturlari va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o‘rnatilgan dasturlarni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tekshiradi, aniqlangan xavflar</a:t>
            </a:r>
            <a:br/>
            <a:r>
              <a:rPr sz="2600" b="0">
                <a:solidFill>
                  <a:srgbClr val="3A4560"/>
                </a:solidFill>
                <a:latin typeface="Segoe UI"/>
              </a:rPr>
              <a:t>ro‘yxatini tuzadi.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Axborot xavfsizligi · 11-mavzu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4 / 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9E2A3A"/>
                </a:solidFill>
                <a:latin typeface="Segoe UI"/>
              </a:rPr>
              <a:t>1-REJA · KOMPYUTER TIZIMIDAGI ZAIFLIKLARNI IZLASH JOYLARI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Zaifliklar qayerda bo‘ladi?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31520" y="1608582"/>
            <a:ext cx="45720" cy="386842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" y="1645158"/>
            <a:ext cx="10920057" cy="3594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70"/>
              </a:lnSpc>
            </a:pPr>
            <a:r>
              <a:rPr sz="1900" b="0">
                <a:solidFill>
                  <a:srgbClr val="3A4560"/>
                </a:solidFill>
                <a:latin typeface="Segoe UI"/>
              </a:rPr>
              <a:t>Kompyuterdagi xavflarni aniqlash uchun tizimning eng ko‘p zaiflik uchraydigan joylari tekshiriladi.</a:t>
            </a:r>
          </a:p>
        </p:txBody>
      </p:sp>
      <p:graphicFrame>
        <p:nvGraphicFramePr>
          <p:cNvPr id="39" name="Table 38"/>
          <p:cNvGraphicFramePr>
            <a:graphicFrameLocks noGrp="1"/>
          </p:cNvGraphicFramePr>
          <p:nvPr/>
        </p:nvGraphicFramePr>
        <p:xfrm>
          <a:off x="731520" y="2187448"/>
          <a:ext cx="10728655" cy="29070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11638"/>
                <a:gridCol w="8017017"/>
              </a:tblGrid>
              <a:tr h="484505">
                <a:tc>
                  <a:txBody>
                    <a:bodyPr wrap="square"/>
                    <a:lstStyle/>
                    <a:p>
                      <a:r>
                        <a:rPr sz="1900" b="1">
                          <a:solidFill>
                            <a:srgbClr val="F4EBDD"/>
                          </a:solidFill>
                          <a:latin typeface="Segoe UI"/>
                        </a:rPr>
                        <a:t>Joy</a:t>
                      </a:r>
                    </a:p>
                  </a:txBody>
                  <a:tcPr marL="109728" marR="109728" marT="73152" marB="73152">
                    <a:solidFill>
                      <a:srgbClr val="9E2A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1">
                          <a:solidFill>
                            <a:srgbClr val="F4EBDD"/>
                          </a:solidFill>
                          <a:latin typeface="Segoe UI"/>
                        </a:rPr>
                        <a:t>Ehtimoliy zaiflik</a:t>
                      </a:r>
                    </a:p>
                  </a:txBody>
                  <a:tcPr marL="109728" marR="109728" marT="73152" marB="73152">
                    <a:solidFill>
                      <a:srgbClr val="9E2A3A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Foydalanuvchi hisoblari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Parolsiz hisob, keraksiz administrator, faol «Гость» hisobi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Dasturlar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Eskirgan, yangilanmagan yoki noma’lum manbadan o‘rnatilgan dasturlar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Avtoyuklanish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Kompyuter yoqilganda o‘zi ishga tushadigan shubhali dasturlar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Tarmoq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Ochiq portlar, umumiy (shared) papkalar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Himoya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O‘chirilgan antivirus yoki firewall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Axborot xavfsizligi · 11-mavzu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5 / 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9E2A3A"/>
                </a:solidFill>
                <a:latin typeface="Segoe UI"/>
              </a:rPr>
              <a:t>2-REJA · AMALIY ISH: WINDOWS VOSITALARI YORDAMIDA ZAIFLIKLARNI ANIQLASH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Ishni bajarish tartibi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31520" y="1608582"/>
            <a:ext cx="45720" cy="733552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" y="1645158"/>
            <a:ext cx="10920057" cy="706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00"/>
              </a:lnSpc>
            </a:pPr>
            <a:r>
              <a:rPr sz="2000" b="0">
                <a:solidFill>
                  <a:srgbClr val="3A4560"/>
                </a:solidFill>
                <a:latin typeface="Segoe UI"/>
              </a:rPr>
              <a:t>Hech qanday dasturni o‘qituvchi ruxsatisiz o‘chirmang — ba’zi tizim xizmatlari kompyuter</a:t>
            </a:r>
            <a:br/>
            <a:r>
              <a:rPr sz="2000" b="0">
                <a:solidFill>
                  <a:srgbClr val="3A4560"/>
                </a:solidFill>
                <a:latin typeface="Segoe UI"/>
              </a:rPr>
              <a:t>ishlashi uchun zarur.</a:t>
            </a:r>
          </a:p>
        </p:txBody>
      </p:sp>
      <p:sp>
        <p:nvSpPr>
          <p:cNvPr id="39" name="Rectangle 38"/>
          <p:cNvSpPr/>
          <p:nvPr/>
        </p:nvSpPr>
        <p:spPr>
          <a:xfrm rot="2700000">
            <a:off x="841161" y="2601381"/>
            <a:ext cx="109901" cy="109901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2506726"/>
            <a:ext cx="10729862" cy="663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32"/>
              </a:lnSpc>
            </a:pPr>
            <a:r>
              <a:rPr sz="1900" b="1">
                <a:solidFill>
                  <a:srgbClr val="1B2A4A"/>
                </a:solidFill>
                <a:latin typeface="Segoe UI"/>
              </a:rPr>
              <a:t>Hisoblarni ko‘rish.: </a:t>
            </a:r>
            <a:r>
              <a:rPr sz="1900" b="0">
                <a:solidFill>
                  <a:srgbClr val="1B2A4A"/>
                </a:solidFill>
                <a:latin typeface="Segoe UI"/>
              </a:rPr>
              <a:t>Buyruqlar satrida net user buyrug‘ini bering — kompyuterdagi barcha</a:t>
            </a:r>
            <a:br/>
            <a:r>
              <a:rPr sz="1900" b="0">
                <a:solidFill>
                  <a:srgbClr val="1B2A4A"/>
                </a:solidFill>
                <a:latin typeface="Segoe UI"/>
              </a:rPr>
              <a:t>hisoblar ro‘yxati chiqadi.</a:t>
            </a:r>
          </a:p>
        </p:txBody>
      </p:sp>
      <p:sp>
        <p:nvSpPr>
          <p:cNvPr id="41" name="Rectangle 40"/>
          <p:cNvSpPr/>
          <p:nvPr/>
        </p:nvSpPr>
        <p:spPr>
          <a:xfrm rot="2700000">
            <a:off x="841161" y="3365413"/>
            <a:ext cx="109901" cy="109901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43000" y="3270758"/>
            <a:ext cx="10729862" cy="663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32"/>
              </a:lnSpc>
            </a:pPr>
            <a:r>
              <a:rPr sz="1900" b="1">
                <a:solidFill>
                  <a:srgbClr val="1B2A4A"/>
                </a:solidFill>
                <a:latin typeface="Segoe UI"/>
              </a:rPr>
              <a:t>Avtoyuklanishni tekshirish.: </a:t>
            </a:r>
            <a:r>
              <a:rPr sz="1900" b="0">
                <a:solidFill>
                  <a:srgbClr val="1B2A4A"/>
                </a:solidFill>
                <a:latin typeface="Segoe UI"/>
              </a:rPr>
              <a:t>Ctrl + Shift + Esc bilan Task Manager (Диспетчер задач) ni oching,</a:t>
            </a:r>
            <a:br/>
            <a:r>
              <a:rPr sz="1900" b="0">
                <a:solidFill>
                  <a:srgbClr val="1B2A4A"/>
                </a:solidFill>
                <a:latin typeface="Segoe UI"/>
              </a:rPr>
              <a:t>«Автозагрузка» bo‘limida noma’lum dasturlarni yozib oling.</a:t>
            </a:r>
          </a:p>
        </p:txBody>
      </p:sp>
      <p:sp>
        <p:nvSpPr>
          <p:cNvPr id="43" name="Rectangle 42"/>
          <p:cNvSpPr/>
          <p:nvPr/>
        </p:nvSpPr>
        <p:spPr>
          <a:xfrm rot="2700000">
            <a:off x="841161" y="4129445"/>
            <a:ext cx="109901" cy="109901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43000" y="4034790"/>
            <a:ext cx="10729862" cy="663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32"/>
              </a:lnSpc>
            </a:pPr>
            <a:r>
              <a:rPr sz="1900" b="1">
                <a:solidFill>
                  <a:srgbClr val="1B2A4A"/>
                </a:solidFill>
                <a:latin typeface="Segoe UI"/>
              </a:rPr>
              <a:t>Ochiq portlarni ko‘rish.: </a:t>
            </a:r>
            <a:r>
              <a:rPr sz="1900" b="0">
                <a:solidFill>
                  <a:srgbClr val="1B2A4A"/>
                </a:solidFill>
                <a:latin typeface="Segoe UI"/>
              </a:rPr>
              <a:t>netstat -an buyrug‘i ochiq ulanishlar va tinglayotgan (LISTENING)</a:t>
            </a:r>
            <a:br/>
            <a:r>
              <a:rPr sz="1900" b="0">
                <a:solidFill>
                  <a:srgbClr val="1B2A4A"/>
                </a:solidFill>
                <a:latin typeface="Segoe UI"/>
              </a:rPr>
              <a:t>portlarni ko‘rsatadi.</a:t>
            </a:r>
          </a:p>
        </p:txBody>
      </p:sp>
      <p:sp>
        <p:nvSpPr>
          <p:cNvPr id="45" name="Rectangle 44"/>
          <p:cNvSpPr/>
          <p:nvPr/>
        </p:nvSpPr>
        <p:spPr>
          <a:xfrm rot="2700000">
            <a:off x="841161" y="4893477"/>
            <a:ext cx="109901" cy="109901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4798822"/>
            <a:ext cx="10729862" cy="354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32"/>
              </a:lnSpc>
            </a:pPr>
            <a:r>
              <a:rPr sz="1900" b="1">
                <a:solidFill>
                  <a:srgbClr val="1B2A4A"/>
                </a:solidFill>
                <a:latin typeface="Segoe UI"/>
              </a:rPr>
              <a:t>Umumiy papkalarni ko‘rish.: </a:t>
            </a:r>
            <a:r>
              <a:rPr sz="1900" b="0">
                <a:solidFill>
                  <a:srgbClr val="1B2A4A"/>
                </a:solidFill>
                <a:latin typeface="Segoe UI"/>
              </a:rPr>
              <a:t>net share buyrug‘i tarmoqda ochiq qilingan papkalarni chiqaradi.</a:t>
            </a:r>
          </a:p>
        </p:txBody>
      </p:sp>
      <p:sp>
        <p:nvSpPr>
          <p:cNvPr id="47" name="Rectangle 46"/>
          <p:cNvSpPr/>
          <p:nvPr/>
        </p:nvSpPr>
        <p:spPr>
          <a:xfrm rot="2700000">
            <a:off x="841161" y="5348645"/>
            <a:ext cx="109901" cy="109901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143000" y="5253990"/>
            <a:ext cx="10729862" cy="663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32"/>
              </a:lnSpc>
            </a:pPr>
            <a:r>
              <a:rPr sz="1900" b="1">
                <a:solidFill>
                  <a:srgbClr val="1B2A4A"/>
                </a:solidFill>
                <a:latin typeface="Segoe UI"/>
              </a:rPr>
              <a:t>O‘rnatilgan dasturlarni ko‘rish.: </a:t>
            </a:r>
            <a:r>
              <a:rPr sz="1900" b="0">
                <a:solidFill>
                  <a:srgbClr val="1B2A4A"/>
                </a:solidFill>
                <a:latin typeface="Segoe UI"/>
              </a:rPr>
              <a:t>Sozlamalar → «Приложения» bo‘limida uzoq vaqt</a:t>
            </a:r>
            <a:br/>
            <a:r>
              <a:rPr sz="1900" b="0">
                <a:solidFill>
                  <a:srgbClr val="1B2A4A"/>
                </a:solidFill>
                <a:latin typeface="Segoe UI"/>
              </a:rPr>
              <a:t>yangilanmagan yoki noma’lum dasturlarni aniqlang.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Axborot xavfsizligi · 11-mavzu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6 / 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9E2A3A"/>
                </a:solidFill>
                <a:latin typeface="Segoe UI"/>
              </a:rPr>
              <a:t>3-REJA · ANIQLANGAN XAVFLAR RO‘YXATINI TUZISH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Xavflar ro‘yxati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31520" y="1608582"/>
            <a:ext cx="45720" cy="386842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" y="1645158"/>
            <a:ext cx="10920057" cy="3594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70"/>
              </a:lnSpc>
            </a:pPr>
            <a:r>
              <a:rPr sz="1900" b="0">
                <a:solidFill>
                  <a:srgbClr val="3A4560"/>
                </a:solidFill>
                <a:latin typeface="Segoe UI"/>
              </a:rPr>
              <a:t>Aniqlangan har bir kamchilik ro‘yxatga yoziladi va baholanadi.</a:t>
            </a:r>
          </a:p>
        </p:txBody>
      </p:sp>
      <p:graphicFrame>
        <p:nvGraphicFramePr>
          <p:cNvPr id="39" name="Table 38"/>
          <p:cNvGraphicFramePr>
            <a:graphicFrameLocks noGrp="1"/>
          </p:cNvGraphicFramePr>
          <p:nvPr/>
        </p:nvGraphicFramePr>
        <p:xfrm>
          <a:off x="731520" y="2187448"/>
          <a:ext cx="10728653" cy="19380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59854"/>
                <a:gridCol w="4494436"/>
                <a:gridCol w="3914509"/>
                <a:gridCol w="1159854"/>
              </a:tblGrid>
              <a:tr h="484505">
                <a:tc>
                  <a:txBody>
                    <a:bodyPr wrap="square"/>
                    <a:lstStyle/>
                    <a:p>
                      <a:r>
                        <a:rPr sz="1900" b="1">
                          <a:solidFill>
                            <a:srgbClr val="F4EBDD"/>
                          </a:solidFill>
                          <a:latin typeface="Segoe UI"/>
                        </a:rPr>
                        <a:t>№</a:t>
                      </a:r>
                    </a:p>
                  </a:txBody>
                  <a:tcPr marL="109728" marR="109728" marT="73152" marB="73152">
                    <a:solidFill>
                      <a:srgbClr val="9E2A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1">
                          <a:solidFill>
                            <a:srgbClr val="F4EBDD"/>
                          </a:solidFill>
                          <a:latin typeface="Segoe UI"/>
                        </a:rPr>
                        <a:t>Aniqlangan holat</a:t>
                      </a:r>
                    </a:p>
                  </a:txBody>
                  <a:tcPr marL="109728" marR="109728" marT="73152" marB="73152">
                    <a:solidFill>
                      <a:srgbClr val="9E2A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1">
                          <a:solidFill>
                            <a:srgbClr val="F4EBDD"/>
                          </a:solidFill>
                          <a:latin typeface="Segoe UI"/>
                        </a:rPr>
                        <a:t>Xavf</a:t>
                      </a:r>
                    </a:p>
                  </a:txBody>
                  <a:tcPr marL="109728" marR="109728" marT="73152" marB="73152">
                    <a:solidFill>
                      <a:srgbClr val="9E2A3A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1">
                          <a:solidFill>
                            <a:srgbClr val="F4EBDD"/>
                          </a:solidFill>
                          <a:latin typeface="Segoe UI"/>
                        </a:rPr>
                        <a:t>Daraja</a:t>
                      </a:r>
                    </a:p>
                  </a:txBody>
                  <a:tcPr marL="109728" marR="109728" marT="73152" marB="73152">
                    <a:solidFill>
                      <a:srgbClr val="9E2A3A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«Гость» hisobi faol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Begona shaxs kirishi mumkin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O‘rta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Avtoyuklanishda noma’lum dastur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Troyan bo‘lishi mumkin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Yuqori</a:t>
                      </a:r>
                    </a:p>
                  </a:txBody>
                  <a:tcPr marL="109728" marR="109728" marT="73152" marB="73152">
                    <a:solidFill>
                      <a:srgbClr val="ECDFCB"/>
                    </a:solidFill>
                  </a:tcPr>
                </a:tc>
              </a:tr>
              <a:tr h="484505"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Disk C umumiy qilingan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Ma’lumotlar sizib chiqishi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900" b="0">
                          <a:solidFill>
                            <a:srgbClr val="1B2A4A"/>
                          </a:solidFill>
                          <a:latin typeface="Segoe UI"/>
                        </a:rPr>
                        <a:t>Yuqori</a:t>
                      </a:r>
                    </a:p>
                  </a:txBody>
                  <a:tcPr marL="109728" marR="109728" marT="73152" marB="73152">
                    <a:solidFill>
                      <a:srgbClr val="FBF6E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Axborot xavfsizligi · 11-mavzu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7 / 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9E2A3A"/>
                </a:solidFill>
                <a:latin typeface="Segoe UI"/>
              </a:rPr>
              <a:t>3-REJA · ANIQLANGAN XAVFLAR RO‘YXATINI TUZISH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Xulosa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31520" y="1608582"/>
            <a:ext cx="45720" cy="1410462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60120" y="1645158"/>
            <a:ext cx="10920057" cy="138303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510"/>
              </a:lnSpc>
            </a:pPr>
            <a:r>
              <a:rPr sz="2700" b="0">
                <a:solidFill>
                  <a:srgbClr val="3A4560"/>
                </a:solidFill>
                <a:latin typeface="Segoe UI"/>
              </a:rPr>
              <a:t>Amaliy ish oxirida har bir o‘quvchi kamida 3 ta holatni reyestrga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yozadi. Bu reyestr keyingi mashg‘ulotlarda xavflilik darajasini baholash</a:t>
            </a:r>
            <a:br/>
            <a:r>
              <a:rPr sz="2700" b="0">
                <a:solidFill>
                  <a:srgbClr val="3A4560"/>
                </a:solidFill>
                <a:latin typeface="Segoe UI"/>
              </a:rPr>
              <a:t>uchun ishlatiladi.</a:t>
            </a:r>
          </a:p>
        </p:txBody>
      </p:sp>
      <p:sp>
        <p:nvSpPr>
          <p:cNvPr id="39" name="Rectangle 38"/>
          <p:cNvSpPr/>
          <p:nvPr/>
        </p:nvSpPr>
        <p:spPr>
          <a:xfrm rot="2700000">
            <a:off x="841161" y="3333409"/>
            <a:ext cx="109901" cy="109901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3183636"/>
            <a:ext cx="10729862" cy="891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28"/>
              </a:lnSpc>
            </a:pPr>
            <a:r>
              <a:rPr sz="2600" b="1">
                <a:solidFill>
                  <a:srgbClr val="1B2A4A"/>
                </a:solidFill>
                <a:latin typeface="Segoe UI"/>
              </a:rPr>
              <a:t>Xavflar reyestri: </a:t>
            </a:r>
            <a:r>
              <a:rPr sz="2600" b="0">
                <a:solidFill>
                  <a:srgbClr val="1B2A4A"/>
                </a:solidFill>
                <a:latin typeface="Segoe UI"/>
              </a:rPr>
              <a:t>aniqlangan xavflar, ularning darajasi va mas’ul</a:t>
            </a:r>
            <a:br/>
            <a:r>
              <a:rPr sz="2600" b="0">
                <a:solidFill>
                  <a:srgbClr val="1B2A4A"/>
                </a:solidFill>
                <a:latin typeface="Segoe UI"/>
              </a:rPr>
              <a:t>shaxslar yozilgan jadval.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Axborot xavfsizligi · 11-mavzu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8 / 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9E2A3A"/>
                </a:solidFill>
                <a:latin typeface="Segoe UI"/>
              </a:rPr>
              <a:t>11-MAVZU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Asosiy atamalar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731520" y="1645158"/>
            <a:ext cx="5204307" cy="2080641"/>
          </a:xfrm>
          <a:prstGeom prst="roundRect">
            <a:avLst>
              <a:gd name="adj" fmla="val 3515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31520" y="1645158"/>
            <a:ext cx="73152" cy="2080641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05840" y="1809750"/>
            <a:ext cx="4936991" cy="3670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29"/>
              </a:lnSpc>
            </a:pPr>
            <a:r>
              <a:rPr sz="2200" b="1">
                <a:solidFill>
                  <a:srgbClr val="1B2A4A"/>
                </a:solidFill>
                <a:latin typeface="Georgia"/>
              </a:rPr>
              <a:t>Avtoyuklanish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5840" y="2222500"/>
            <a:ext cx="4936991" cy="673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70"/>
              </a:lnSpc>
            </a:pPr>
            <a:r>
              <a:rPr sz="1900" b="0">
                <a:solidFill>
                  <a:srgbClr val="3A4560"/>
                </a:solidFill>
                <a:latin typeface="Segoe UI"/>
              </a:rPr>
              <a:t>Operatsion tizim ishga tushganda</a:t>
            </a:r>
            <a:br/>
            <a:r>
              <a:rPr sz="1900" b="0">
                <a:solidFill>
                  <a:srgbClr val="3A4560"/>
                </a:solidFill>
                <a:latin typeface="Segoe UI"/>
              </a:rPr>
              <a:t>dasturlarning avtomatik ishga tushishi.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55867" y="1645158"/>
            <a:ext cx="5204307" cy="2080641"/>
          </a:xfrm>
          <a:prstGeom prst="roundRect">
            <a:avLst>
              <a:gd name="adj" fmla="val 3515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255867" y="1645158"/>
            <a:ext cx="73152" cy="2080641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30187" y="1809750"/>
            <a:ext cx="4936991" cy="3670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29"/>
              </a:lnSpc>
            </a:pPr>
            <a:r>
              <a:rPr sz="2200" b="1">
                <a:solidFill>
                  <a:srgbClr val="1B2A4A"/>
                </a:solidFill>
                <a:latin typeface="Georgia"/>
              </a:rPr>
              <a:t>Port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30187" y="2222500"/>
            <a:ext cx="4936991" cy="9867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70"/>
              </a:lnSpc>
            </a:pPr>
            <a:r>
              <a:rPr sz="1900" b="0">
                <a:solidFill>
                  <a:srgbClr val="3A4560"/>
                </a:solidFill>
                <a:latin typeface="Segoe UI"/>
              </a:rPr>
              <a:t>Kompyuterdagi dastur tarmoq orqali</a:t>
            </a:r>
            <a:br/>
            <a:r>
              <a:rPr sz="1900" b="0">
                <a:solidFill>
                  <a:srgbClr val="3A4560"/>
                </a:solidFill>
                <a:latin typeface="Segoe UI"/>
              </a:rPr>
              <a:t>ma’lumot qabul qiladigan raqamlangan</a:t>
            </a:r>
            <a:br/>
            <a:r>
              <a:rPr sz="1900" b="0">
                <a:solidFill>
                  <a:srgbClr val="3A4560"/>
                </a:solidFill>
                <a:latin typeface="Segoe UI"/>
              </a:rPr>
              <a:t>«eshik».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731520" y="3954398"/>
            <a:ext cx="5204307" cy="2080641"/>
          </a:xfrm>
          <a:prstGeom prst="roundRect">
            <a:avLst>
              <a:gd name="adj" fmla="val 3515"/>
            </a:avLst>
          </a:prstGeom>
          <a:solidFill>
            <a:srgbClr val="FBF6EC"/>
          </a:solidFill>
          <a:ln w="12700">
            <a:solidFill>
              <a:srgbClr val="D8C8A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731520" y="3954398"/>
            <a:ext cx="73152" cy="2080641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05840" y="4118990"/>
            <a:ext cx="4936991" cy="3670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529"/>
              </a:lnSpc>
            </a:pPr>
            <a:r>
              <a:rPr sz="2200" b="1">
                <a:solidFill>
                  <a:srgbClr val="1B2A4A"/>
                </a:solidFill>
                <a:latin typeface="Georgia"/>
              </a:rPr>
              <a:t>Xavflar reyestri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05840" y="4531740"/>
            <a:ext cx="4936991" cy="673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470"/>
              </a:lnSpc>
            </a:pPr>
            <a:r>
              <a:rPr sz="1900" b="0">
                <a:solidFill>
                  <a:srgbClr val="3A4560"/>
                </a:solidFill>
                <a:latin typeface="Segoe UI"/>
              </a:rPr>
              <a:t>Aniqlangan xavflar, ularning darajasi va</a:t>
            </a:r>
            <a:br/>
            <a:r>
              <a:rPr sz="1900" b="0">
                <a:solidFill>
                  <a:srgbClr val="3A4560"/>
                </a:solidFill>
                <a:latin typeface="Segoe UI"/>
              </a:rPr>
              <a:t>mas’ul shaxslar yozilgan jadval.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Axborot xavfsizligi · 11-mavzu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9 / 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66928"/>
            <a:ext cx="11157801" cy="220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sz="1100" b="1">
                <a:solidFill>
                  <a:srgbClr val="9E2A3A"/>
                </a:solidFill>
                <a:latin typeface="Segoe UI"/>
              </a:rPr>
              <a:t>11-MAVZU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859536"/>
            <a:ext cx="11157801" cy="48387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50"/>
              </a:lnSpc>
            </a:pPr>
            <a:r>
              <a:rPr sz="3000" b="1">
                <a:solidFill>
                  <a:srgbClr val="1B2A4A"/>
                </a:solidFill>
                <a:latin typeface="Georgia"/>
              </a:rPr>
              <a:t>Mustahkamlash uchun savollar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1389126"/>
            <a:ext cx="822960" cy="45720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45283" y="1720821"/>
            <a:ext cx="284537" cy="28453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 rot="2700000">
            <a:off x="845283" y="1720821"/>
            <a:ext cx="284537" cy="28453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86384" y="1753362"/>
            <a:ext cx="418429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00"/>
              </a:lnSpc>
            </a:pPr>
            <a:r>
              <a:rPr sz="1200" b="1">
                <a:solidFill>
                  <a:srgbClr val="F4EBDD"/>
                </a:solidFill>
                <a:latin typeface="Segoe UI"/>
              </a:rPr>
              <a:t>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417320" y="1645158"/>
            <a:ext cx="10206825" cy="474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Kompyuterdagi qaysi joylarda zaiflik ko‘p uchraydi?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45283" y="2332961"/>
            <a:ext cx="284537" cy="28453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 rot="2700000">
            <a:off x="845283" y="2332961"/>
            <a:ext cx="284537" cy="28453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86384" y="2365502"/>
            <a:ext cx="418429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00"/>
              </a:lnSpc>
            </a:pPr>
            <a:r>
              <a:rPr sz="1200" b="1">
                <a:solidFill>
                  <a:srgbClr val="F4EBDD"/>
                </a:solidFill>
                <a:latin typeface="Segoe UI"/>
              </a:rPr>
              <a:t>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417320" y="2257298"/>
            <a:ext cx="10206825" cy="474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net user buyrug‘i nima uchun ishlatiladi?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45283" y="2945101"/>
            <a:ext cx="284537" cy="28453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 rot="2700000">
            <a:off x="845283" y="2945101"/>
            <a:ext cx="284537" cy="28453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86384" y="2977642"/>
            <a:ext cx="418429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00"/>
              </a:lnSpc>
            </a:pPr>
            <a:r>
              <a:rPr sz="1200" b="1">
                <a:solidFill>
                  <a:srgbClr val="F4EBDD"/>
                </a:solidFill>
                <a:latin typeface="Segoe UI"/>
              </a:rPr>
              <a:t>3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417320" y="2869438"/>
            <a:ext cx="10206825" cy="474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Avtoyuklanishdagi dasturlarni qayerdan ko‘rish mumkin?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45283" y="3557241"/>
            <a:ext cx="284537" cy="28453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 rot="2700000">
            <a:off x="845283" y="3557241"/>
            <a:ext cx="284537" cy="28453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86384" y="3589782"/>
            <a:ext cx="418429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00"/>
              </a:lnSpc>
            </a:pPr>
            <a:r>
              <a:rPr sz="1200" b="1">
                <a:solidFill>
                  <a:srgbClr val="F4EBDD"/>
                </a:solidFill>
                <a:latin typeface="Segoe UI"/>
              </a:rPr>
              <a:t>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417320" y="3481578"/>
            <a:ext cx="10206825" cy="474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netstat -an buyrug‘i qanday ma’lumot beradi?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45283" y="4169381"/>
            <a:ext cx="284537" cy="28453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 rot="2700000">
            <a:off x="845283" y="4169381"/>
            <a:ext cx="284537" cy="28453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86384" y="4201922"/>
            <a:ext cx="418429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00"/>
              </a:lnSpc>
            </a:pPr>
            <a:r>
              <a:rPr sz="1200" b="1">
                <a:solidFill>
                  <a:srgbClr val="F4EBDD"/>
                </a:solidFill>
                <a:latin typeface="Segoe UI"/>
              </a:rPr>
              <a:t>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417320" y="4093718"/>
            <a:ext cx="10206825" cy="4749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380"/>
              </a:lnSpc>
            </a:pPr>
            <a:r>
              <a:rPr sz="2600" b="0">
                <a:solidFill>
                  <a:srgbClr val="1B2A4A"/>
                </a:solidFill>
                <a:latin typeface="Segoe UI"/>
              </a:rPr>
              <a:t>Xavflar reyestriga qanday ma’lumotlar yoziladi?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 rot="2700000">
            <a:off x="1833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700000">
            <a:off x="640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700000">
            <a:off x="10977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700000">
            <a:off x="1554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 rot="2700000">
            <a:off x="20121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 rot="2700000">
            <a:off x="2469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 rot="2700000">
            <a:off x="29265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 rot="2700000">
            <a:off x="3383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2700000">
            <a:off x="38409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 rot="2700000">
            <a:off x="4298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700000">
            <a:off x="47553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 rot="2700000">
            <a:off x="5212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 rot="2700000">
            <a:off x="56697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700000">
            <a:off x="6126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 rot="2700000">
            <a:off x="65841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 rot="2700000">
            <a:off x="7041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 rot="2700000">
            <a:off x="74985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 rot="2700000">
            <a:off x="79557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 rot="2700000">
            <a:off x="84129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 rot="2700000">
            <a:off x="88701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 rot="2700000">
            <a:off x="93273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 rot="2700000">
            <a:off x="97845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 rot="2700000">
            <a:off x="102417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 rot="2700000">
            <a:off x="106989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 rot="2700000">
            <a:off x="111561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 rot="2700000">
            <a:off x="11613346" y="229066"/>
            <a:ext cx="90507" cy="90507"/>
          </a:xfrm>
          <a:prstGeom prst="rect">
            <a:avLst/>
          </a:prstGeom>
          <a:solidFill>
            <a:srgbClr val="B9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 rot="2700000">
            <a:off x="12070546" y="229066"/>
            <a:ext cx="90507" cy="90507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6291072"/>
            <a:ext cx="11094415" cy="10972"/>
          </a:xfrm>
          <a:prstGeom prst="rect">
            <a:avLst/>
          </a:prstGeom>
          <a:solidFill>
            <a:srgbClr val="D8C8A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400800"/>
            <a:ext cx="7607808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50"/>
              </a:lnSpc>
            </a:pPr>
            <a:r>
              <a:rPr sz="1000" b="0">
                <a:solidFill>
                  <a:srgbClr val="6B6457"/>
                </a:solidFill>
                <a:latin typeface="Segoe UI"/>
              </a:rPr>
              <a:t>Axborot xavfsizligi · 11-mavzu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14255" y="6400800"/>
            <a:ext cx="1901952" cy="2044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250"/>
              </a:lnSpc>
            </a:pPr>
            <a:r>
              <a:rPr sz="1000" b="1">
                <a:solidFill>
                  <a:srgbClr val="6B6457"/>
                </a:solidFill>
                <a:latin typeface="Segoe UI"/>
              </a:rPr>
              <a:t>10 / 10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1505" y="1625937"/>
            <a:ext cx="1228684" cy="1228684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 rot="2700000">
            <a:off x="5481505" y="1625937"/>
            <a:ext cx="1228684" cy="1228684"/>
          </a:xfrm>
          <a:prstGeom prst="rect">
            <a:avLst/>
          </a:prstGeom>
          <a:solidFill>
            <a:srgbClr val="9E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740175" y="1884608"/>
            <a:ext cx="711343" cy="711343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 rot="2700000">
            <a:off x="5740175" y="1884608"/>
            <a:ext cx="711343" cy="711343"/>
          </a:xfrm>
          <a:prstGeom prst="rect">
            <a:avLst/>
          </a:prstGeom>
          <a:solidFill>
            <a:srgbClr val="F4EB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1520" y="3429000"/>
            <a:ext cx="11157801" cy="680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5000"/>
              </a:lnSpc>
            </a:pPr>
            <a:r>
              <a:rPr sz="4000" b="1">
                <a:solidFill>
                  <a:srgbClr val="1B2A4A"/>
                </a:solidFill>
                <a:latin typeface="Georgia"/>
              </a:rPr>
              <a:t>E’tiboringiz uchun rahmat!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4251960"/>
            <a:ext cx="11157801" cy="3632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500"/>
              </a:lnSpc>
            </a:pPr>
            <a:r>
              <a:rPr sz="2000" b="0">
                <a:solidFill>
                  <a:srgbClr val="3A4560"/>
                </a:solidFill>
                <a:latin typeface="Segoe UI"/>
              </a:rPr>
              <a:t>Savollaringiz bo‘lsa, marhamat.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" y="4892040"/>
            <a:ext cx="11157801" cy="299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2000"/>
              </a:lnSpc>
            </a:pPr>
            <a:r>
              <a:rPr sz="1600" b="1">
                <a:solidFill>
                  <a:srgbClr val="9E2A3A"/>
                </a:solidFill>
                <a:latin typeface="Segoe UI"/>
              </a:rPr>
              <a:t>Oydin Tashtemirova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11-mavzu. Kompyuter tizimidagi xavflarni aniqlash</dc:title>
  <dc:subject/>
  <dc:creator>Oydin Tashtemirova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