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Axborot xavfsizligi · 13-mavzu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 / 9</a:t>
            </a:r>
          </a:p>
        </p:txBody>
      </p:sp>
      <p:sp>
        <p:nvSpPr>
          <p:cNvPr id="34" name="Round Same Side Corner Rectangle 33"/>
          <p:cNvSpPr/>
          <p:nvPr/>
        </p:nvSpPr>
        <p:spPr>
          <a:xfrm>
            <a:off x="731520" y="777240"/>
            <a:ext cx="3291840" cy="512064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698430" y="1835590"/>
            <a:ext cx="1358019" cy="1358019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 rot="2700000">
            <a:off x="1698430" y="1835590"/>
            <a:ext cx="1358019" cy="1358019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80160" y="2148840"/>
            <a:ext cx="2282342" cy="629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600"/>
              </a:lnSpc>
            </a:pPr>
            <a:r>
              <a:rPr sz="4600" b="1">
                <a:solidFill>
                  <a:srgbClr val="9E2A3A"/>
                </a:solidFill>
                <a:latin typeface="Georgia"/>
              </a:rPr>
              <a:t>13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" y="4114800"/>
            <a:ext cx="3043123" cy="2679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750"/>
              </a:lnSpc>
            </a:pPr>
            <a:r>
              <a:rPr sz="1400" b="1">
                <a:solidFill>
                  <a:srgbClr val="F4EBDD"/>
                </a:solidFill>
                <a:latin typeface="Segoe UI"/>
              </a:rPr>
              <a:t>MAVZU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" y="4434840"/>
            <a:ext cx="3043123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625"/>
              </a:lnSpc>
            </a:pPr>
            <a:r>
              <a:rPr sz="1300" b="0">
                <a:solidFill>
                  <a:srgbClr val="F4EBDD"/>
                </a:solidFill>
                <a:latin typeface="Segoe UI"/>
              </a:rPr>
              <a:t>Amaliy · 2 soat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0" y="1097280"/>
            <a:ext cx="7163702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300" b="1">
                <a:solidFill>
                  <a:srgbClr val="9E2A3A"/>
                </a:solidFill>
                <a:latin typeface="Segoe UI"/>
              </a:rPr>
              <a:t>AXBOROT XAVFSIZLIGI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1532255"/>
            <a:ext cx="7163702" cy="1752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sz="4000" b="1">
                <a:solidFill>
                  <a:srgbClr val="1B2A4A"/>
                </a:solidFill>
                <a:latin typeface="Georgia"/>
              </a:rPr>
              <a:t>Tahdidlarni xavflilik</a:t>
            </a:r>
            <a:br/>
            <a:r>
              <a:rPr sz="4000" b="1">
                <a:solidFill>
                  <a:srgbClr val="1B2A4A"/>
                </a:solidFill>
                <a:latin typeface="Georgia"/>
              </a:rPr>
              <a:t>darajasi bo‘yicha</a:t>
            </a:r>
            <a:br/>
            <a:r>
              <a:rPr sz="4000" b="1">
                <a:solidFill>
                  <a:srgbClr val="1B2A4A"/>
                </a:solidFill>
                <a:latin typeface="Georgia"/>
              </a:rPr>
              <a:t>baholash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0" y="3467735"/>
            <a:ext cx="1097280" cy="54864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0" y="3787774"/>
            <a:ext cx="7163702" cy="363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B2A4A"/>
                </a:solidFill>
                <a:latin typeface="Segoe UI"/>
              </a:rPr>
              <a:t>Oydin Tashtemirova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0" y="4178427"/>
            <a:ext cx="7163702" cy="283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5"/>
              </a:lnSpc>
            </a:pPr>
            <a:r>
              <a:rPr sz="1500" b="0">
                <a:solidFill>
                  <a:srgbClr val="6B6457"/>
                </a:solidFill>
                <a:latin typeface="Segoe UI"/>
              </a:rPr>
              <a:t>Maxsus fan o‘qituvchisi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0" y="4489704"/>
            <a:ext cx="7163702" cy="283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5"/>
              </a:lnSpc>
            </a:pPr>
            <a:r>
              <a:rPr sz="1500" b="0">
                <a:solidFill>
                  <a:srgbClr val="6B6457"/>
                </a:solidFill>
                <a:latin typeface="Segoe UI"/>
              </a:rPr>
              <a:t>Piskent tumani 1-son texnikumi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Axborot xavfsizligi · 13-mavzu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2 / 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9E2A3A"/>
                </a:solidFill>
                <a:latin typeface="Segoe UI"/>
              </a:rPr>
              <a:t>13-MAVZU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Mashg‘ulot rejasi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31520" y="1645158"/>
            <a:ext cx="10728655" cy="1234440"/>
          </a:xfrm>
          <a:prstGeom prst="roundRect">
            <a:avLst>
              <a:gd name="adj" fmla="val 5925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47356" y="2029574"/>
            <a:ext cx="465606" cy="465606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 rot="2700000">
            <a:off x="1047356" y="2029574"/>
            <a:ext cx="465606" cy="465606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5840" y="2079498"/>
            <a:ext cx="570585" cy="299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00"/>
              </a:lnSpc>
            </a:pPr>
            <a:r>
              <a:rPr sz="2000" b="1">
                <a:solidFill>
                  <a:srgbClr val="F4EBDD"/>
                </a:solidFill>
                <a:latin typeface="Georgia"/>
              </a:rPr>
              <a:t>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28800" y="2079498"/>
            <a:ext cx="9826435" cy="4114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>
                <a:solidFill>
                  <a:srgbClr val="1B2A4A"/>
                </a:solidFill>
                <a:latin typeface="Georgia"/>
              </a:rPr>
              <a:t>Xavflilik darajasini baholash mezonlari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3108198"/>
            <a:ext cx="10728655" cy="1234440"/>
          </a:xfrm>
          <a:prstGeom prst="roundRect">
            <a:avLst>
              <a:gd name="adj" fmla="val 5925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47356" y="3492614"/>
            <a:ext cx="465606" cy="465606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 rot="2700000">
            <a:off x="1047356" y="3492614"/>
            <a:ext cx="465606" cy="465606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05840" y="3542538"/>
            <a:ext cx="570585" cy="299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00"/>
              </a:lnSpc>
            </a:pPr>
            <a:r>
              <a:rPr sz="2000" b="1">
                <a:solidFill>
                  <a:srgbClr val="F4EBDD"/>
                </a:solidFill>
                <a:latin typeface="Georgia"/>
              </a:rP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28800" y="3542538"/>
            <a:ext cx="9826435" cy="4114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>
                <a:solidFill>
                  <a:srgbClr val="1B2A4A"/>
                </a:solidFill>
                <a:latin typeface="Georgia"/>
              </a:rPr>
              <a:t>Amaliy ish: xavflar matritsasini elektron jadvalda tuzish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571238"/>
            <a:ext cx="10728655" cy="1234440"/>
          </a:xfrm>
          <a:prstGeom prst="roundRect">
            <a:avLst>
              <a:gd name="adj" fmla="val 5925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047356" y="4955654"/>
            <a:ext cx="465606" cy="465606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 rot="2700000">
            <a:off x="1047356" y="4955654"/>
            <a:ext cx="465606" cy="465606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05840" y="5005578"/>
            <a:ext cx="570585" cy="299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00"/>
              </a:lnSpc>
            </a:pPr>
            <a:r>
              <a:rPr sz="2000" b="1">
                <a:solidFill>
                  <a:srgbClr val="F4EBDD"/>
                </a:solidFill>
                <a:latin typeface="Georgia"/>
              </a:rPr>
              <a:t>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828800" y="5005578"/>
            <a:ext cx="9826435" cy="4114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>
                <a:solidFill>
                  <a:srgbClr val="1B2A4A"/>
                </a:solidFill>
                <a:latin typeface="Georgia"/>
              </a:rPr>
              <a:t>Xavflarni ustuvorlik bo‘yicha saralash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Axborot xavfsizligi · 13-mavzu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3 / 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9E2A3A"/>
                </a:solidFill>
                <a:latin typeface="Segoe UI"/>
              </a:rPr>
              <a:t>13-MAVZU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Maqsad va kutilayotgan natija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31520" y="1645158"/>
            <a:ext cx="5181447" cy="4344161"/>
          </a:xfrm>
          <a:prstGeom prst="roundRect">
            <a:avLst>
              <a:gd name="adj" fmla="val 1683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31520" y="1645158"/>
            <a:ext cx="5181447" cy="82296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1965198"/>
            <a:ext cx="4723022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300" b="1">
                <a:solidFill>
                  <a:srgbClr val="9E2A3A"/>
                </a:solidFill>
                <a:latin typeface="Segoe UI"/>
              </a:rPr>
              <a:t>MAQSAD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" y="2376678"/>
            <a:ext cx="4723022" cy="2720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600" b="0">
                <a:solidFill>
                  <a:srgbClr val="3A4560"/>
                </a:solidFill>
                <a:latin typeface="Segoe UI"/>
              </a:rPr>
              <a:t>O‘quvchilarda tahdidlarni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ehtimollik va zarar bo‘yicha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baholab, elektron jadvalda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xavflar matritsasini tuzish va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ustuvor xavflarni aniqlash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ko‘nikmasini shakllantirish.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78727" y="1645158"/>
            <a:ext cx="5181447" cy="4344161"/>
          </a:xfrm>
          <a:prstGeom prst="roundRect">
            <a:avLst>
              <a:gd name="adj" fmla="val 1683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78727" y="1645158"/>
            <a:ext cx="5181447" cy="82296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98767" y="1965198"/>
            <a:ext cx="4723022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300" b="1">
                <a:solidFill>
                  <a:srgbClr val="B9862A"/>
                </a:solidFill>
                <a:latin typeface="Segoe UI"/>
              </a:rPr>
              <a:t>KUTILAYOTGAN NATIJA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98767" y="2376678"/>
            <a:ext cx="4723022" cy="2720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600" b="0">
                <a:solidFill>
                  <a:srgbClr val="3A4560"/>
                </a:solidFill>
                <a:latin typeface="Segoe UI"/>
              </a:rPr>
              <a:t>O‘quvchilar Excel’da xavflar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jadvalini tuzadi, formula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yordamida xavf darajasini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hisoblaydi, shartli formatlash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bilan ranglaydi va xavflarni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saralaydi.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Axborot xavfsizligi · 13-mavzu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4 / 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9E2A3A"/>
                </a:solidFill>
                <a:latin typeface="Segoe UI"/>
              </a:rPr>
              <a:t>1-REJA · XAVFLILIK DARAJASINI BAHOLASH MEZONLARI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Baholash shkalasi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70053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673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70"/>
              </a:lnSpc>
            </a:pPr>
            <a:r>
              <a:rPr sz="1900" b="0">
                <a:solidFill>
                  <a:srgbClr val="3A4560"/>
                </a:solidFill>
                <a:latin typeface="Segoe UI"/>
              </a:rPr>
              <a:t>Xavflilik darajasini baholashda yagona shkala qo‘llaniladi, aks holda turli odamlar bir xil xavfni</a:t>
            </a:r>
            <a:br/>
            <a:r>
              <a:rPr sz="1900" b="0">
                <a:solidFill>
                  <a:srgbClr val="3A4560"/>
                </a:solidFill>
                <a:latin typeface="Segoe UI"/>
              </a:rPr>
              <a:t>turlicha baholaydi.</a:t>
            </a:r>
          </a:p>
        </p:txBody>
      </p:sp>
      <p:graphicFrame>
        <p:nvGraphicFramePr>
          <p:cNvPr id="39" name="Table 38"/>
          <p:cNvGraphicFramePr>
            <a:graphicFrameLocks noGrp="1"/>
          </p:cNvGraphicFramePr>
          <p:nvPr/>
        </p:nvGraphicFramePr>
        <p:xfrm>
          <a:off x="731520" y="2501138"/>
          <a:ext cx="10728653" cy="19380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2926"/>
                <a:gridCol w="3381858"/>
                <a:gridCol w="6413869"/>
              </a:tblGrid>
              <a:tr h="484505"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Ball</a:t>
                      </a:r>
                    </a:p>
                  </a:txBody>
                  <a:tcPr marL="109728" marR="109728" marT="73152" marB="73152">
                    <a:solidFill>
                      <a:srgbClr val="9E2A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Ehtimollik</a:t>
                      </a:r>
                    </a:p>
                  </a:txBody>
                  <a:tcPr marL="109728" marR="109728" marT="73152" marB="73152">
                    <a:solidFill>
                      <a:srgbClr val="9E2A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Zarar</a:t>
                      </a:r>
                    </a:p>
                  </a:txBody>
                  <a:tcPr marL="109728" marR="109728" marT="73152" marB="73152">
                    <a:solidFill>
                      <a:srgbClr val="9E2A3A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Kam: yiliga bir martadan kam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Kichik: ish bir necha daqiqaga to‘xtaydi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O‘rta: yiliga bir necha marta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O‘rta: ish bir kunga to‘xtaydi, ayrim fayllar yo‘qoladi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Yuqori: har oy yoki tez-tez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Katta: muhim ma’lumotlar yo‘qoladi yoki sizib chiqadi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Axborot xavfsizligi · 13-mavzu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5 / 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9E2A3A"/>
                </a:solidFill>
                <a:latin typeface="Segoe UI"/>
              </a:rPr>
              <a:t>2-REJA · AMALIY ISH: XAVFLAR MATRITSASINI ELEKTRON JADVALDA TUZISH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Ishni bajarish tartibi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41986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3924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30"/>
              </a:lnSpc>
            </a:pPr>
            <a:r>
              <a:rPr sz="2100" b="0">
                <a:solidFill>
                  <a:srgbClr val="3A4560"/>
                </a:solidFill>
                <a:latin typeface="Segoe UI"/>
              </a:rPr>
              <a:t>Formuladagi ajratuvchi belgi (; yoki ,) kompyuterning til sozlamalariga bog‘liq.</a:t>
            </a:r>
          </a:p>
        </p:txBody>
      </p:sp>
      <p:sp>
        <p:nvSpPr>
          <p:cNvPr id="39" name="Rectangle 38"/>
          <p:cNvSpPr/>
          <p:nvPr/>
        </p:nvSpPr>
        <p:spPr>
          <a:xfrm rot="2700000">
            <a:off x="841161" y="2295565"/>
            <a:ext cx="109901" cy="109901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2193036"/>
            <a:ext cx="10729862" cy="695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60"/>
              </a:lnSpc>
            </a:pPr>
            <a:r>
              <a:rPr sz="2000" b="1">
                <a:solidFill>
                  <a:srgbClr val="1B2A4A"/>
                </a:solidFill>
                <a:latin typeface="Segoe UI"/>
              </a:rPr>
              <a:t>Jadval tuzish.: </a:t>
            </a:r>
            <a:r>
              <a:rPr sz="2000" b="0">
                <a:solidFill>
                  <a:srgbClr val="1B2A4A"/>
                </a:solidFill>
                <a:latin typeface="Segoe UI"/>
              </a:rPr>
              <a:t>Excel’da ustunlar yarating: A — №, B — Tahdid, C — Ehtimollik, D — Zarar, E</a:t>
            </a:r>
            <a:br/>
            <a:r>
              <a:rPr sz="2000" b="0">
                <a:solidFill>
                  <a:srgbClr val="1B2A4A"/>
                </a:solidFill>
                <a:latin typeface="Segoe UI"/>
              </a:rPr>
              <a:t>— Xavf darajasi, F — Chora.</a:t>
            </a:r>
          </a:p>
        </p:txBody>
      </p:sp>
      <p:sp>
        <p:nvSpPr>
          <p:cNvPr id="41" name="Rectangle 40"/>
          <p:cNvSpPr/>
          <p:nvPr/>
        </p:nvSpPr>
        <p:spPr>
          <a:xfrm rot="2700000">
            <a:off x="841161" y="3092109"/>
            <a:ext cx="109901" cy="109901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2989580"/>
            <a:ext cx="10729862" cy="695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60"/>
              </a:lnSpc>
            </a:pPr>
            <a:r>
              <a:rPr sz="2000" b="1">
                <a:solidFill>
                  <a:srgbClr val="1B2A4A"/>
                </a:solidFill>
                <a:latin typeface="Segoe UI"/>
              </a:rPr>
              <a:t>Ma’lumot kiritish.: </a:t>
            </a:r>
            <a:r>
              <a:rPr sz="2000" b="0">
                <a:solidFill>
                  <a:srgbClr val="1B2A4A"/>
                </a:solidFill>
                <a:latin typeface="Segoe UI"/>
              </a:rPr>
              <a:t>Xavflar reyestridagi kamida 8 ta tahdidni kiriting va har biriga 1–3 ball</a:t>
            </a:r>
            <a:br/>
            <a:r>
              <a:rPr sz="2000" b="0">
                <a:solidFill>
                  <a:srgbClr val="1B2A4A"/>
                </a:solidFill>
                <a:latin typeface="Segoe UI"/>
              </a:rPr>
              <a:t>qo‘ying.</a:t>
            </a:r>
          </a:p>
        </p:txBody>
      </p:sp>
      <p:sp>
        <p:nvSpPr>
          <p:cNvPr id="43" name="Rectangle 42"/>
          <p:cNvSpPr/>
          <p:nvPr/>
        </p:nvSpPr>
        <p:spPr>
          <a:xfrm rot="2700000">
            <a:off x="841161" y="3888653"/>
            <a:ext cx="109901" cy="109901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43000" y="3786124"/>
            <a:ext cx="10729862" cy="370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60"/>
              </a:lnSpc>
            </a:pPr>
            <a:r>
              <a:rPr sz="2000" b="1">
                <a:solidFill>
                  <a:srgbClr val="1B2A4A"/>
                </a:solidFill>
                <a:latin typeface="Segoe UI"/>
              </a:rPr>
              <a:t>Formula yozish.: </a:t>
            </a:r>
            <a:r>
              <a:rPr sz="2000" b="0">
                <a:solidFill>
                  <a:srgbClr val="1B2A4A"/>
                </a:solidFill>
                <a:latin typeface="Segoe UI"/>
              </a:rPr>
              <a:t>E2 katakka =C2*D2 formulasini yozib, pastga cho‘zing.</a:t>
            </a:r>
          </a:p>
        </p:txBody>
      </p:sp>
      <p:sp>
        <p:nvSpPr>
          <p:cNvPr id="45" name="Rectangle 44"/>
          <p:cNvSpPr/>
          <p:nvPr/>
        </p:nvSpPr>
        <p:spPr>
          <a:xfrm rot="2700000">
            <a:off x="841161" y="4360077"/>
            <a:ext cx="109901" cy="109901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4257548"/>
            <a:ext cx="10729862" cy="695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60"/>
              </a:lnSpc>
            </a:pPr>
            <a:r>
              <a:rPr sz="2000" b="1">
                <a:solidFill>
                  <a:srgbClr val="1B2A4A"/>
                </a:solidFill>
                <a:latin typeface="Segoe UI"/>
              </a:rPr>
              <a:t>Daraja nomini chiqarish.: </a:t>
            </a:r>
            <a:r>
              <a:rPr sz="2000" b="0">
                <a:solidFill>
                  <a:srgbClr val="1B2A4A"/>
                </a:solidFill>
                <a:latin typeface="Segoe UI"/>
              </a:rPr>
              <a:t>G2 katakka =ЕСЛИ(E2&gt;=6;"Yuqori";ЕСЛИ(E2&gt;=3;"O‘rta";"Past"))</a:t>
            </a:r>
            <a:br/>
            <a:r>
              <a:rPr sz="2000" b="0">
                <a:solidFill>
                  <a:srgbClr val="1B2A4A"/>
                </a:solidFill>
                <a:latin typeface="Segoe UI"/>
              </a:rPr>
              <a:t>formulasini yozing (ingliz tilidagi Excel’da ЕСЛИ o‘rniga IF).</a:t>
            </a:r>
          </a:p>
        </p:txBody>
      </p:sp>
      <p:sp>
        <p:nvSpPr>
          <p:cNvPr id="47" name="Rectangle 46"/>
          <p:cNvSpPr/>
          <p:nvPr/>
        </p:nvSpPr>
        <p:spPr>
          <a:xfrm rot="2700000">
            <a:off x="841161" y="5156621"/>
            <a:ext cx="109901" cy="109901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143000" y="5054092"/>
            <a:ext cx="10729862" cy="695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60"/>
              </a:lnSpc>
            </a:pPr>
            <a:r>
              <a:rPr sz="2000" b="1">
                <a:solidFill>
                  <a:srgbClr val="1B2A4A"/>
                </a:solidFill>
                <a:latin typeface="Segoe UI"/>
              </a:rPr>
              <a:t>Shartli formatlash.: </a:t>
            </a:r>
            <a:r>
              <a:rPr sz="2000" b="0">
                <a:solidFill>
                  <a:srgbClr val="1B2A4A"/>
                </a:solidFill>
                <a:latin typeface="Segoe UI"/>
              </a:rPr>
              <a:t>E ustunini belgilab «Условное форматирование» → «Цветовые</a:t>
            </a:r>
            <a:br/>
            <a:r>
              <a:rPr sz="2000" b="0">
                <a:solidFill>
                  <a:srgbClr val="1B2A4A"/>
                </a:solidFill>
                <a:latin typeface="Segoe UI"/>
              </a:rPr>
              <a:t>шкалы» ni tanlang: yuqori xavflar qizil, past xavflar yashil bo‘ladi.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Axborot xavfsizligi · 13-mavzu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6 / 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9E2A3A"/>
                </a:solidFill>
                <a:latin typeface="Segoe UI"/>
              </a:rPr>
              <a:t>3-REJA · XAVFLARNI USTUVORLIK BO‘YICHA SARALASH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Saralash va xulosa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70053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673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70"/>
              </a:lnSpc>
            </a:pPr>
            <a:r>
              <a:rPr sz="1900" b="0">
                <a:solidFill>
                  <a:srgbClr val="3A4560"/>
                </a:solidFill>
                <a:latin typeface="Segoe UI"/>
              </a:rPr>
              <a:t>Ishni tugatgach, fayl «Xavflar_matritsasi_Familiya.xlsx» nomi bilan saqlanadi va o‘qituvchiga</a:t>
            </a:r>
            <a:br/>
            <a:r>
              <a:rPr sz="1900" b="0">
                <a:solidFill>
                  <a:srgbClr val="3A4560"/>
                </a:solidFill>
                <a:latin typeface="Segoe UI"/>
              </a:rPr>
              <a:t>topshiriladi.</a:t>
            </a:r>
          </a:p>
        </p:txBody>
      </p:sp>
      <p:graphicFrame>
        <p:nvGraphicFramePr>
          <p:cNvPr id="39" name="Table 38"/>
          <p:cNvGraphicFramePr>
            <a:graphicFrameLocks noGrp="1"/>
          </p:cNvGraphicFramePr>
          <p:nvPr/>
        </p:nvGraphicFramePr>
        <p:xfrm>
          <a:off x="731520" y="2501138"/>
          <a:ext cx="10728653" cy="24225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53047"/>
                <a:gridCol w="2384145"/>
                <a:gridCol w="1907316"/>
                <a:gridCol w="2384145"/>
              </a:tblGrid>
              <a:tr h="484505"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Tahdid</a:t>
                      </a:r>
                    </a:p>
                  </a:txBody>
                  <a:tcPr marL="109728" marR="109728" marT="73152" marB="73152">
                    <a:solidFill>
                      <a:srgbClr val="9E2A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Ehtimollik</a:t>
                      </a:r>
                    </a:p>
                  </a:txBody>
                  <a:tcPr marL="109728" marR="109728" marT="73152" marB="73152">
                    <a:solidFill>
                      <a:srgbClr val="9E2A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Zarar</a:t>
                      </a:r>
                    </a:p>
                  </a:txBody>
                  <a:tcPr marL="109728" marR="109728" marT="73152" marB="73152">
                    <a:solidFill>
                      <a:srgbClr val="9E2A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Daraja</a:t>
                      </a:r>
                    </a:p>
                  </a:txBody>
                  <a:tcPr marL="109728" marR="109728" marT="73152" marB="73152">
                    <a:solidFill>
                      <a:srgbClr val="9E2A3A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Shifrlovchi virus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6 — Yuqori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Disk buzilishi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4 — O‘rta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Elektr uzilishi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3 — O‘rta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Parolsiz Wi-Fi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2 — Past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Axborot xavfsizligi · 13-mavzu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7 / 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9E2A3A"/>
                </a:solidFill>
                <a:latin typeface="Segoe UI"/>
              </a:rPr>
              <a:t>13-MAVZU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Asosiy atamalar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31520" y="1645158"/>
            <a:ext cx="10728655" cy="4389882"/>
          </a:xfrm>
          <a:prstGeom prst="roundRect">
            <a:avLst>
              <a:gd name="adj" fmla="val 1666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31520" y="1645158"/>
            <a:ext cx="73152" cy="4389882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5840" y="1809750"/>
            <a:ext cx="10682313" cy="3670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29"/>
              </a:lnSpc>
            </a:pPr>
            <a:r>
              <a:rPr sz="2200" b="1">
                <a:solidFill>
                  <a:srgbClr val="1B2A4A"/>
                </a:solidFill>
                <a:latin typeface="Georgia"/>
              </a:rPr>
              <a:t>Ustuvorlik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2222500"/>
            <a:ext cx="10682313" cy="3594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70"/>
              </a:lnSpc>
            </a:pPr>
            <a:r>
              <a:rPr sz="1900" b="0">
                <a:solidFill>
                  <a:srgbClr val="3A4560"/>
                </a:solidFill>
                <a:latin typeface="Segoe UI"/>
              </a:rPr>
              <a:t>Qaysi xavf birinchi navbatda bartaraf etilishi kerakligini ko‘rsatuvchi tartib.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Axborot xavfsizligi · 13-mavzu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8 / 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9E2A3A"/>
                </a:solidFill>
                <a:latin typeface="Segoe UI"/>
              </a:rPr>
              <a:t>13-MAVZU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Mustahkamlash uchun savollar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45283" y="1720821"/>
            <a:ext cx="284537" cy="28453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 rot="2700000">
            <a:off x="845283" y="1720821"/>
            <a:ext cx="284537" cy="28453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86384" y="175336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417320" y="1645158"/>
            <a:ext cx="10206825" cy="474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Nima uchun yagona baholash shkalasi kerak?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45283" y="2332961"/>
            <a:ext cx="284537" cy="28453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 rot="2700000">
            <a:off x="845283" y="2332961"/>
            <a:ext cx="284537" cy="28453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6384" y="236550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17320" y="2257298"/>
            <a:ext cx="10206825" cy="474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Xavf darajasini Excel’da qaysi formula bilan hisoblaysiz?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45283" y="2945101"/>
            <a:ext cx="284537" cy="28453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 rot="2700000">
            <a:off x="845283" y="2945101"/>
            <a:ext cx="284537" cy="28453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86384" y="297764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417320" y="2869438"/>
            <a:ext cx="10206825" cy="474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Shartli formatlash nima uchun qo‘llaniladi?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45283" y="3557241"/>
            <a:ext cx="284537" cy="28453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 rot="2700000">
            <a:off x="845283" y="3557241"/>
            <a:ext cx="284537" cy="28453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86384" y="358978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417320" y="3481578"/>
            <a:ext cx="10206825" cy="474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Ustuvorlik qanday aniqlanadi?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45283" y="4169381"/>
            <a:ext cx="284537" cy="28453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 rot="2700000">
            <a:off x="845283" y="4169381"/>
            <a:ext cx="284537" cy="28453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86384" y="420192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417320" y="4093718"/>
            <a:ext cx="10206825" cy="474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Darajasi 6 bo‘lgan xavfga qanday munosabatda bo‘linadi?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Axborot xavfsizligi · 13-mavzu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9 / 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1505" y="1625937"/>
            <a:ext cx="1228684" cy="1228684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 rot="2700000">
            <a:off x="5481505" y="1625937"/>
            <a:ext cx="1228684" cy="1228684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740175" y="1884608"/>
            <a:ext cx="711343" cy="711343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 rot="2700000">
            <a:off x="5740175" y="1884608"/>
            <a:ext cx="711343" cy="711343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3429000"/>
            <a:ext cx="11157801" cy="680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5000"/>
              </a:lnSpc>
            </a:pPr>
            <a:r>
              <a:rPr sz="4000" b="1">
                <a:solidFill>
                  <a:srgbClr val="1B2A4A"/>
                </a:solidFill>
                <a:latin typeface="Georgia"/>
              </a:rPr>
              <a:t>E’tiboringiz uchun rahmat!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4251960"/>
            <a:ext cx="11157801" cy="363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500"/>
              </a:lnSpc>
            </a:pPr>
            <a:r>
              <a:rPr sz="2000" b="0">
                <a:solidFill>
                  <a:srgbClr val="3A4560"/>
                </a:solidFill>
                <a:latin typeface="Segoe UI"/>
              </a:rPr>
              <a:t>Savollaringiz bo‘lsa, marhamat.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4892040"/>
            <a:ext cx="11157801" cy="299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00"/>
              </a:lnSpc>
            </a:pPr>
            <a:r>
              <a:rPr sz="1600" b="1">
                <a:solidFill>
                  <a:srgbClr val="9E2A3A"/>
                </a:solidFill>
                <a:latin typeface="Segoe UI"/>
              </a:rPr>
              <a:t>Oydin Tashtemirova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13-mavzu. Tahdidlarni xavflilik darajasi bo‘yicha baholash</dc:title>
  <dc:subject/>
  <dc:creator>Oydin Tashtemirova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