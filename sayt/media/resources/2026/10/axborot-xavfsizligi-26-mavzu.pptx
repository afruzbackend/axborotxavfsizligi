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26-mavzu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10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C2562D"/>
                </a:solidFill>
                <a:latin typeface="Georgia"/>
              </a:rPr>
              <a:t>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Amaliy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C2562D"/>
                </a:solidFill>
                <a:latin typeface="Segoe UI"/>
              </a:rPr>
              <a:t>AXBOROT XAVFSIZLIGI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75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Shubhali havola va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phishing xabarlarini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aniqlash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3467735"/>
            <a:ext cx="1097280" cy="54864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787774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417842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448970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tumani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26-mavzu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26-MAVZU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207949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Elektron xatning texnik belgilarini o‘rganish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54253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Amaliy ish: phishing xatlarni tahlil qilish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482269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Phishing haqida xabar berish va himoya choralarini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qo‘llash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26-mavzu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26-MAVZU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C2562D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272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O‘quvchilarda elektron xatning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yuboruvchi manzili, sarlavhalari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va havolalarini tekshirib,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phishing xatlarni haqiqiysidan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ajratish ko‘nikmasini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shakllantirish.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22745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 xat yuboruvchisini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va havolalarni tekshiradi, xat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sarlavhasidan ma’lumot oladi,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phishing xatni belgilaydi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xabar beradi.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26-mavzu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1-REJA · ELEKTRON XATNING TEXNIK BELGILARINI O‘RGANISH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Xatning texnik belgilari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55561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728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1">
                <a:solidFill>
                  <a:srgbClr val="1B2A4A"/>
                </a:solidFill>
                <a:latin typeface="Segoe UI"/>
              </a:rPr>
              <a:t>Yuboruvchi manzili.: </a:t>
            </a:r>
            <a:r>
              <a:rPr sz="2100" b="0">
                <a:solidFill>
                  <a:srgbClr val="1B2A4A"/>
                </a:solidFill>
                <a:latin typeface="Segoe UI"/>
              </a:rPr>
              <a:t>Ko‘rinadigan ism («Bank xavfsizlik xizmati») har qanday bo‘lishi</a:t>
            </a:r>
            <a:br/>
            <a:r>
              <a:rPr sz="2100" b="0">
                <a:solidFill>
                  <a:srgbClr val="1B2A4A"/>
                </a:solidFill>
                <a:latin typeface="Segoe UI"/>
              </a:rPr>
              <a:t>mumkin; haqiqiy manzilni ko‘rish uchun ism ustiga bosing.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584617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474214"/>
            <a:ext cx="10729862" cy="387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1">
                <a:solidFill>
                  <a:srgbClr val="1B2A4A"/>
                </a:solidFill>
                <a:latin typeface="Segoe UI"/>
              </a:rPr>
              <a:t>Javob manzili.: </a:t>
            </a:r>
            <a:r>
              <a:rPr sz="2100" b="0">
                <a:solidFill>
                  <a:srgbClr val="1B2A4A"/>
                </a:solidFill>
                <a:latin typeface="Segoe UI"/>
              </a:rPr>
              <a:t>«Reply-To» maydoni boshqa manzilga yo‘naltirilgan bo‘lsa — shubhali.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072297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2961894"/>
            <a:ext cx="10729862" cy="728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1">
                <a:solidFill>
                  <a:srgbClr val="1B2A4A"/>
                </a:solidFill>
                <a:latin typeface="Segoe UI"/>
              </a:rPr>
              <a:t>Murojaat.: </a:t>
            </a:r>
            <a:r>
              <a:rPr sz="2100" b="0">
                <a:solidFill>
                  <a:srgbClr val="1B2A4A"/>
                </a:solidFill>
                <a:latin typeface="Segoe UI"/>
              </a:rPr>
              <a:t>«Hurmatli mijoz» kabi umumiy murojaat; haqiqiy tashkilotlar odatda</a:t>
            </a:r>
            <a:br/>
            <a:r>
              <a:rPr sz="2100" b="0">
                <a:solidFill>
                  <a:srgbClr val="1B2A4A"/>
                </a:solidFill>
                <a:latin typeface="Segoe UI"/>
              </a:rPr>
              <a:t>ismingiz bilan murojaat qiladi.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3901353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790949"/>
            <a:ext cx="10729862" cy="387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1">
                <a:solidFill>
                  <a:srgbClr val="1B2A4A"/>
                </a:solidFill>
                <a:latin typeface="Segoe UI"/>
              </a:rPr>
              <a:t>Havolalar.: </a:t>
            </a:r>
            <a:r>
              <a:rPr sz="2100" b="0">
                <a:solidFill>
                  <a:srgbClr val="1B2A4A"/>
                </a:solidFill>
                <a:latin typeface="Segoe UI"/>
              </a:rPr>
              <a:t>Matndagi havola va haqiqiy manzil mos kelmaydi.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389033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278630"/>
            <a:ext cx="10729862" cy="387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1">
                <a:solidFill>
                  <a:srgbClr val="1B2A4A"/>
                </a:solidFill>
                <a:latin typeface="Segoe UI"/>
              </a:rPr>
              <a:t>Ilovalar.: </a:t>
            </a:r>
            <a:r>
              <a:rPr sz="2100" b="0">
                <a:solidFill>
                  <a:srgbClr val="1B2A4A"/>
                </a:solidFill>
                <a:latin typeface="Segoe UI"/>
              </a:rPr>
              <a:t>Kutilmagan arxiv yoki makrosli hujjat.</a:t>
            </a:r>
          </a:p>
        </p:txBody>
      </p:sp>
      <p:sp>
        <p:nvSpPr>
          <p:cNvPr id="47" name="Rectangle 46"/>
          <p:cNvSpPr/>
          <p:nvPr/>
        </p:nvSpPr>
        <p:spPr>
          <a:xfrm rot="2700000">
            <a:off x="841161" y="4876713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" y="4766309"/>
            <a:ext cx="10729862" cy="728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1">
                <a:solidFill>
                  <a:srgbClr val="1B2A4A"/>
                </a:solidFill>
                <a:latin typeface="Segoe UI"/>
              </a:rPr>
              <a:t>Xat sarlavhasi: </a:t>
            </a:r>
            <a:r>
              <a:rPr sz="2100" b="0">
                <a:solidFill>
                  <a:srgbClr val="1B2A4A"/>
                </a:solidFill>
                <a:latin typeface="Segoe UI"/>
              </a:rPr>
              <a:t>xatning qaysi serverlardan o‘tgani, yuboruvchi va tekshiruv natijalari</a:t>
            </a:r>
            <a:br/>
            <a:r>
              <a:rPr sz="2100" b="0">
                <a:solidFill>
                  <a:srgbClr val="1B2A4A"/>
                </a:solidFill>
                <a:latin typeface="Segoe UI"/>
              </a:rPr>
              <a:t>yozilgan texnik ma’lumotlar qismi.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26-mavzu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2-REJA · AMALIY ISH: PHISHING XATLARNI TAHLIL QILISH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Ishni bajarish tartibi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4" cy="14535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4665"/>
                <a:gridCol w="3901329"/>
                <a:gridCol w="4597995"/>
                <a:gridCol w="1114665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Xat</a:t>
                      </a:r>
                    </a:p>
                  </a:txBody>
                  <a:tcPr marL="109728" marR="109728" marT="73152" marB="73152">
                    <a:solidFill>
                      <a:srgbClr val="C256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Yuboruvchi</a:t>
                      </a:r>
                    </a:p>
                  </a:txBody>
                  <a:tcPr marL="109728" marR="109728" marT="73152" marB="73152">
                    <a:solidFill>
                      <a:srgbClr val="C256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Belgilar</a:t>
                      </a:r>
                    </a:p>
                  </a:txBody>
                  <a:tcPr marL="109728" marR="109728" marT="73152" marB="73152">
                    <a:solidFill>
                      <a:srgbClr val="C256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SPF/DKIM</a:t>
                      </a:r>
                    </a:p>
                  </a:txBody>
                  <a:tcPr marL="109728" marR="109728" marT="73152" marB="73152">
                    <a:solidFill>
                      <a:srgbClr val="C2562D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support@paypa1-secure.com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Shoshiltirish, harf almashgan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FAIL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no-reply@accounts.google.com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Ismingiz bilan, havola google.com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PASS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26-mavzu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3-REJA · PHISHING HAQIDA XABAR BERISH VA HIMOYA CHORALARINI QO‘LLASH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Xabar berish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Gmail’da.: </a:t>
            </a:r>
            <a:r>
              <a:rPr sz="2600" b="0">
                <a:solidFill>
                  <a:srgbClr val="1B2A4A"/>
                </a:solidFill>
                <a:latin typeface="Segoe UI"/>
              </a:rPr>
              <a:t>Xatni oching → «⋮» → «Сообщить о фишинге». Xat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o‘chiriladi va Google boshqa foydalanuvchilarni ogohlantiradi.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786547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636774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Outlook’da.: </a:t>
            </a:r>
            <a:r>
              <a:rPr sz="2600" b="0">
                <a:solidFill>
                  <a:srgbClr val="1B2A4A"/>
                </a:solidFill>
                <a:latin typeface="Segoe UI"/>
              </a:rPr>
              <a:t>«Сообщить» → «Фишинг».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355507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205734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Tashkilotda.: </a:t>
            </a:r>
            <a:r>
              <a:rPr sz="2600" b="0">
                <a:solidFill>
                  <a:srgbClr val="1B2A4A"/>
                </a:solidFill>
                <a:latin typeface="Segoe UI"/>
              </a:rPr>
              <a:t>Xatni ochmasdan IT-bo‘limga yo‘naltiring.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26-mavzu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3-REJA · PHISHING HAQIDA XABAR BERISH VA HIMOYA CHORALARINI QO‘LLASH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Himoya choralari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45288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425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90"/>
              </a:lnSpc>
            </a:pPr>
            <a:r>
              <a:rPr sz="2300" b="0">
                <a:solidFill>
                  <a:srgbClr val="3A4560"/>
                </a:solidFill>
                <a:latin typeface="Segoe UI"/>
              </a:rPr>
              <a:t>Mashg‘ulot oxirida eng ko‘p phishing xatni to‘g‘ri aniqlagan juftlik rag‘batlantiriladi.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344333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226056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Pochtada 2FA yoqilgan bo‘lishi.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2848269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2729992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Spam filtrini o‘chirmaslik.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3352205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233928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Xatdagi havola orqali emas, saytga manzilni o‘zingiz yozib kirish.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3856141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3737864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Makroslarni avtomatik ishga tushirishni taqiqlash (Office’da standart holatda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o‘chirilgan).</a:t>
            </a:r>
          </a:p>
        </p:txBody>
      </p:sp>
      <p:sp>
        <p:nvSpPr>
          <p:cNvPr id="47" name="Rectangle 46"/>
          <p:cNvSpPr/>
          <p:nvPr/>
        </p:nvSpPr>
        <p:spPr>
          <a:xfrm rot="2700000">
            <a:off x="841161" y="4717709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" y="4599432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Spam filtri: </a:t>
            </a:r>
            <a:r>
              <a:rPr sz="2200" b="0">
                <a:solidFill>
                  <a:srgbClr val="1B2A4A"/>
                </a:solidFill>
                <a:latin typeface="Segoe UI"/>
              </a:rPr>
              <a:t>kiruvchi xatlarni tahlil qilib, reklama va shubhali xatlarni alohida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papkaga ajratuvchi tizim.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26-mavzu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26-MAVZU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Asosiy atamalar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204307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73152" cy="208064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1809750"/>
            <a:ext cx="4936991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SPF va DKIM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2222500"/>
            <a:ext cx="4936991" cy="986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Xat haqiqatan ham ko‘rsatilgan domen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serveridan yuborilganini tekshiruvchi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texnologiyalar.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55867" y="1645158"/>
            <a:ext cx="5204307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55867" y="1645158"/>
            <a:ext cx="73152" cy="208064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30187" y="1809750"/>
            <a:ext cx="4936991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Spam filtri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0187" y="2222500"/>
            <a:ext cx="4936991" cy="986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Kiruvchi xatlarni tahlil qilib, reklama va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shubhali xatlarni alohida papkaga ajratuvchi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tizim.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3954398"/>
            <a:ext cx="5204307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31520" y="3954398"/>
            <a:ext cx="73152" cy="208064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5840" y="4118990"/>
            <a:ext cx="4936991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Xat sarlavhasi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" y="4531740"/>
            <a:ext cx="4936991" cy="986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Xatning qaysi serverlardan o‘tgani,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yuboruvchi va tekshiruv natijalari yozilgan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texnik ma’lumotlar qismi.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26-mavzu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26-MAVZU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Xat yuboruvchisining haqiqiy manzilini qanday ko‘rish mumkin?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SPF va DKIM nimani tekshiradi?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294510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294510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29776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28694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Gmail’da xat sarlavhasi qanday ochiladi?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55724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55724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35897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48157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Phishing xat haqida qanday xabar beriladi?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16938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16938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20192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09371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Spam filtri qanday vazifani bajaradi?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26-mavzu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C2562D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26-mavzu. Shubhali havola va phishing xabarlarini aniqlash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