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BD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28016"/>
          </a:xfrm>
          <a:prstGeom prst="rect">
            <a:avLst/>
          </a:prstGeom>
          <a:solidFill>
            <a:srgbClr val="3F7D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 rot="2700000">
            <a:off x="183346" y="229066"/>
            <a:ext cx="90507" cy="90507"/>
          </a:xfrm>
          <a:prstGeom prst="rect">
            <a:avLst/>
          </a:prstGeom>
          <a:solidFill>
            <a:srgbClr val="3F7D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 rot="2700000">
            <a:off x="6405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 rot="2700000">
            <a:off x="1097746" y="229066"/>
            <a:ext cx="90507" cy="90507"/>
          </a:xfrm>
          <a:prstGeom prst="rect">
            <a:avLst/>
          </a:prstGeom>
          <a:solidFill>
            <a:srgbClr val="3F7D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 rot="2700000">
            <a:off x="15549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 rot="2700000">
            <a:off x="2012146" y="229066"/>
            <a:ext cx="90507" cy="90507"/>
          </a:xfrm>
          <a:prstGeom prst="rect">
            <a:avLst/>
          </a:prstGeom>
          <a:solidFill>
            <a:srgbClr val="3F7D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 rot="2700000">
            <a:off x="24693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 rot="2700000">
            <a:off x="2926546" y="229066"/>
            <a:ext cx="90507" cy="90507"/>
          </a:xfrm>
          <a:prstGeom prst="rect">
            <a:avLst/>
          </a:prstGeom>
          <a:solidFill>
            <a:srgbClr val="3F7D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 rot="2700000">
            <a:off x="33837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 rot="2700000">
            <a:off x="3840946" y="229066"/>
            <a:ext cx="90507" cy="90507"/>
          </a:xfrm>
          <a:prstGeom prst="rect">
            <a:avLst/>
          </a:prstGeom>
          <a:solidFill>
            <a:srgbClr val="3F7D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 rot="2700000">
            <a:off x="42981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 rot="2700000">
            <a:off x="4755346" y="229066"/>
            <a:ext cx="90507" cy="90507"/>
          </a:xfrm>
          <a:prstGeom prst="rect">
            <a:avLst/>
          </a:prstGeom>
          <a:solidFill>
            <a:srgbClr val="3F7D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 rot="2700000">
            <a:off x="52125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 rot="2700000">
            <a:off x="5669746" y="229066"/>
            <a:ext cx="90507" cy="90507"/>
          </a:xfrm>
          <a:prstGeom prst="rect">
            <a:avLst/>
          </a:prstGeom>
          <a:solidFill>
            <a:srgbClr val="3F7D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 rot="2700000">
            <a:off x="61269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 rot="2700000">
            <a:off x="6584146" y="229066"/>
            <a:ext cx="90507" cy="90507"/>
          </a:xfrm>
          <a:prstGeom prst="rect">
            <a:avLst/>
          </a:prstGeom>
          <a:solidFill>
            <a:srgbClr val="3F7D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 rot="2700000">
            <a:off x="70413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 rot="2700000">
            <a:off x="7498546" y="229066"/>
            <a:ext cx="90507" cy="90507"/>
          </a:xfrm>
          <a:prstGeom prst="rect">
            <a:avLst/>
          </a:prstGeom>
          <a:solidFill>
            <a:srgbClr val="3F7D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 rot="2700000">
            <a:off x="79557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 rot="2700000">
            <a:off x="8412946" y="229066"/>
            <a:ext cx="90507" cy="90507"/>
          </a:xfrm>
          <a:prstGeom prst="rect">
            <a:avLst/>
          </a:prstGeom>
          <a:solidFill>
            <a:srgbClr val="3F7D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 rot="2700000">
            <a:off x="88701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 rot="2700000">
            <a:off x="9327346" y="229066"/>
            <a:ext cx="90507" cy="90507"/>
          </a:xfrm>
          <a:prstGeom prst="rect">
            <a:avLst/>
          </a:prstGeom>
          <a:solidFill>
            <a:srgbClr val="3F7D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 rot="2700000">
            <a:off x="97845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 rot="2700000">
            <a:off x="10241746" y="229066"/>
            <a:ext cx="90507" cy="90507"/>
          </a:xfrm>
          <a:prstGeom prst="rect">
            <a:avLst/>
          </a:prstGeom>
          <a:solidFill>
            <a:srgbClr val="3F7D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 rot="2700000">
            <a:off x="106989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 rot="2700000">
            <a:off x="11156146" y="229066"/>
            <a:ext cx="90507" cy="90507"/>
          </a:xfrm>
          <a:prstGeom prst="rect">
            <a:avLst/>
          </a:prstGeom>
          <a:solidFill>
            <a:srgbClr val="3F7D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 rot="2700000">
            <a:off x="116133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 rot="2700000">
            <a:off x="12070546" y="229066"/>
            <a:ext cx="90507" cy="90507"/>
          </a:xfrm>
          <a:prstGeom prst="rect">
            <a:avLst/>
          </a:prstGeom>
          <a:solidFill>
            <a:srgbClr val="3F7D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548640" y="6291072"/>
            <a:ext cx="11094415" cy="10972"/>
          </a:xfrm>
          <a:prstGeom prst="rect">
            <a:avLst/>
          </a:prstGeom>
          <a:solidFill>
            <a:srgbClr val="D8C8A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548640" y="6400800"/>
            <a:ext cx="7607808" cy="20446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250"/>
              </a:lnSpc>
            </a:pPr>
            <a:r>
              <a:rPr sz="1000" b="0">
                <a:solidFill>
                  <a:srgbClr val="6B6457"/>
                </a:solidFill>
                <a:latin typeface="Segoe UI"/>
              </a:rPr>
              <a:t>Axborot xavfsizligi · 36-mavzu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9814255" y="6400800"/>
            <a:ext cx="1901952" cy="20446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ts val="1250"/>
              </a:lnSpc>
            </a:pPr>
            <a:r>
              <a:rPr sz="1000" b="1">
                <a:solidFill>
                  <a:srgbClr val="6B6457"/>
                </a:solidFill>
                <a:latin typeface="Segoe UI"/>
              </a:rPr>
              <a:t>1 / 11</a:t>
            </a:r>
          </a:p>
        </p:txBody>
      </p:sp>
      <p:sp>
        <p:nvSpPr>
          <p:cNvPr id="34" name="Round Same Side Corner Rectangle 33"/>
          <p:cNvSpPr/>
          <p:nvPr/>
        </p:nvSpPr>
        <p:spPr>
          <a:xfrm>
            <a:off x="731520" y="777240"/>
            <a:ext cx="3291840" cy="5120640"/>
          </a:xfrm>
          <a:prstGeom prst="round2SameRect">
            <a:avLst>
              <a:gd name="adj1" fmla="val 50000"/>
              <a:gd name="adj2" fmla="val 0"/>
            </a:avLst>
          </a:prstGeom>
          <a:solidFill>
            <a:srgbClr val="3F7D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Rectangle 34"/>
          <p:cNvSpPr/>
          <p:nvPr/>
        </p:nvSpPr>
        <p:spPr>
          <a:xfrm>
            <a:off x="1698430" y="1835590"/>
            <a:ext cx="1358019" cy="1358019"/>
          </a:xfrm>
          <a:prstGeom prst="rect">
            <a:avLst/>
          </a:prstGeom>
          <a:solidFill>
            <a:srgbClr val="F4EBD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Rectangle 35"/>
          <p:cNvSpPr/>
          <p:nvPr/>
        </p:nvSpPr>
        <p:spPr>
          <a:xfrm rot="2700000">
            <a:off x="1698430" y="1835590"/>
            <a:ext cx="1358019" cy="1358019"/>
          </a:xfrm>
          <a:prstGeom prst="rect">
            <a:avLst/>
          </a:prstGeom>
          <a:solidFill>
            <a:srgbClr val="F4EBD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1280160" y="2148840"/>
            <a:ext cx="2282342" cy="629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ts val="4600"/>
              </a:lnSpc>
            </a:pPr>
            <a:r>
              <a:rPr sz="4600" b="1">
                <a:solidFill>
                  <a:srgbClr val="3F7D4E"/>
                </a:solidFill>
                <a:latin typeface="Georgia"/>
              </a:rPr>
              <a:t>36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914400" y="4114800"/>
            <a:ext cx="3043123" cy="26797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ts val="1750"/>
              </a:lnSpc>
            </a:pPr>
            <a:r>
              <a:rPr sz="1400" b="1">
                <a:solidFill>
                  <a:srgbClr val="F4EBDD"/>
                </a:solidFill>
                <a:latin typeface="Segoe UI"/>
              </a:rPr>
              <a:t>MAVZU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914400" y="4434840"/>
            <a:ext cx="3043123" cy="25209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ts val="1625"/>
              </a:lnSpc>
            </a:pPr>
            <a:r>
              <a:rPr sz="1300" b="0">
                <a:solidFill>
                  <a:srgbClr val="F4EBDD"/>
                </a:solidFill>
                <a:latin typeface="Segoe UI"/>
              </a:rPr>
              <a:t>Nazariy · 2 soat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4572000" y="1097280"/>
            <a:ext cx="7163702" cy="25209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625"/>
              </a:lnSpc>
            </a:pPr>
            <a:r>
              <a:rPr sz="1300" b="1">
                <a:solidFill>
                  <a:srgbClr val="3F7D4E"/>
                </a:solidFill>
                <a:latin typeface="Segoe UI"/>
              </a:rPr>
              <a:t>AXBOROT XAVFSIZLIGI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4572000" y="1532255"/>
            <a:ext cx="7163702" cy="1183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4480"/>
              </a:lnSpc>
            </a:pPr>
            <a:r>
              <a:rPr sz="4000" b="1">
                <a:solidFill>
                  <a:srgbClr val="1B2A4A"/>
                </a:solidFill>
                <a:latin typeface="Georgia"/>
              </a:rPr>
              <a:t>Ma’lumotlarni shifrlash</a:t>
            </a:r>
            <a:br/>
            <a:r>
              <a:rPr sz="4000" b="1">
                <a:solidFill>
                  <a:srgbClr val="1B2A4A"/>
                </a:solidFill>
                <a:latin typeface="Georgia"/>
              </a:rPr>
              <a:t>va zaxiralash asoslari</a:t>
            </a:r>
          </a:p>
        </p:txBody>
      </p:sp>
      <p:sp>
        <p:nvSpPr>
          <p:cNvPr id="42" name="Rectangle 41"/>
          <p:cNvSpPr/>
          <p:nvPr/>
        </p:nvSpPr>
        <p:spPr>
          <a:xfrm>
            <a:off x="4572000" y="2898775"/>
            <a:ext cx="1097280" cy="54864"/>
          </a:xfrm>
          <a:prstGeom prst="rect">
            <a:avLst/>
          </a:prstGeom>
          <a:solidFill>
            <a:srgbClr val="3F7D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4572000" y="3218815"/>
            <a:ext cx="7163702" cy="3632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500"/>
              </a:lnSpc>
            </a:pPr>
            <a:r>
              <a:rPr sz="2000" b="1">
                <a:solidFill>
                  <a:srgbClr val="1B2A4A"/>
                </a:solidFill>
                <a:latin typeface="Segoe UI"/>
              </a:rPr>
              <a:t>Oydin Tashtemirova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4572000" y="3609467"/>
            <a:ext cx="7163702" cy="28384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875"/>
              </a:lnSpc>
            </a:pPr>
            <a:r>
              <a:rPr sz="1500" b="0">
                <a:solidFill>
                  <a:srgbClr val="6B6457"/>
                </a:solidFill>
                <a:latin typeface="Segoe UI"/>
              </a:rPr>
              <a:t>Maxsus fan o‘qituvchisi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4572000" y="3920744"/>
            <a:ext cx="7163702" cy="28384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875"/>
              </a:lnSpc>
            </a:pPr>
            <a:r>
              <a:rPr sz="1500" b="0">
                <a:solidFill>
                  <a:srgbClr val="6B6457"/>
                </a:solidFill>
                <a:latin typeface="Segoe UI"/>
              </a:rPr>
              <a:t>Piskent tumani 1-son texnikumi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BD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28016"/>
          </a:xfrm>
          <a:prstGeom prst="rect">
            <a:avLst/>
          </a:prstGeom>
          <a:solidFill>
            <a:srgbClr val="3F7D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 rot="2700000">
            <a:off x="183346" y="229066"/>
            <a:ext cx="90507" cy="90507"/>
          </a:xfrm>
          <a:prstGeom prst="rect">
            <a:avLst/>
          </a:prstGeom>
          <a:solidFill>
            <a:srgbClr val="3F7D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 rot="2700000">
            <a:off x="6405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 rot="2700000">
            <a:off x="1097746" y="229066"/>
            <a:ext cx="90507" cy="90507"/>
          </a:xfrm>
          <a:prstGeom prst="rect">
            <a:avLst/>
          </a:prstGeom>
          <a:solidFill>
            <a:srgbClr val="3F7D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 rot="2700000">
            <a:off x="15549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 rot="2700000">
            <a:off x="2012146" y="229066"/>
            <a:ext cx="90507" cy="90507"/>
          </a:xfrm>
          <a:prstGeom prst="rect">
            <a:avLst/>
          </a:prstGeom>
          <a:solidFill>
            <a:srgbClr val="3F7D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 rot="2700000">
            <a:off x="24693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 rot="2700000">
            <a:off x="2926546" y="229066"/>
            <a:ext cx="90507" cy="90507"/>
          </a:xfrm>
          <a:prstGeom prst="rect">
            <a:avLst/>
          </a:prstGeom>
          <a:solidFill>
            <a:srgbClr val="3F7D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 rot="2700000">
            <a:off x="33837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 rot="2700000">
            <a:off x="3840946" y="229066"/>
            <a:ext cx="90507" cy="90507"/>
          </a:xfrm>
          <a:prstGeom prst="rect">
            <a:avLst/>
          </a:prstGeom>
          <a:solidFill>
            <a:srgbClr val="3F7D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 rot="2700000">
            <a:off x="42981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 rot="2700000">
            <a:off x="4755346" y="229066"/>
            <a:ext cx="90507" cy="90507"/>
          </a:xfrm>
          <a:prstGeom prst="rect">
            <a:avLst/>
          </a:prstGeom>
          <a:solidFill>
            <a:srgbClr val="3F7D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 rot="2700000">
            <a:off x="52125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 rot="2700000">
            <a:off x="5669746" y="229066"/>
            <a:ext cx="90507" cy="90507"/>
          </a:xfrm>
          <a:prstGeom prst="rect">
            <a:avLst/>
          </a:prstGeom>
          <a:solidFill>
            <a:srgbClr val="3F7D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 rot="2700000">
            <a:off x="61269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 rot="2700000">
            <a:off x="6584146" y="229066"/>
            <a:ext cx="90507" cy="90507"/>
          </a:xfrm>
          <a:prstGeom prst="rect">
            <a:avLst/>
          </a:prstGeom>
          <a:solidFill>
            <a:srgbClr val="3F7D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 rot="2700000">
            <a:off x="70413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 rot="2700000">
            <a:off x="7498546" y="229066"/>
            <a:ext cx="90507" cy="90507"/>
          </a:xfrm>
          <a:prstGeom prst="rect">
            <a:avLst/>
          </a:prstGeom>
          <a:solidFill>
            <a:srgbClr val="3F7D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 rot="2700000">
            <a:off x="79557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 rot="2700000">
            <a:off x="8412946" y="229066"/>
            <a:ext cx="90507" cy="90507"/>
          </a:xfrm>
          <a:prstGeom prst="rect">
            <a:avLst/>
          </a:prstGeom>
          <a:solidFill>
            <a:srgbClr val="3F7D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 rot="2700000">
            <a:off x="88701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 rot="2700000">
            <a:off x="9327346" y="229066"/>
            <a:ext cx="90507" cy="90507"/>
          </a:xfrm>
          <a:prstGeom prst="rect">
            <a:avLst/>
          </a:prstGeom>
          <a:solidFill>
            <a:srgbClr val="3F7D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 rot="2700000">
            <a:off x="97845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 rot="2700000">
            <a:off x="10241746" y="229066"/>
            <a:ext cx="90507" cy="90507"/>
          </a:xfrm>
          <a:prstGeom prst="rect">
            <a:avLst/>
          </a:prstGeom>
          <a:solidFill>
            <a:srgbClr val="3F7D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 rot="2700000">
            <a:off x="106989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 rot="2700000">
            <a:off x="11156146" y="229066"/>
            <a:ext cx="90507" cy="90507"/>
          </a:xfrm>
          <a:prstGeom prst="rect">
            <a:avLst/>
          </a:prstGeom>
          <a:solidFill>
            <a:srgbClr val="3F7D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 rot="2700000">
            <a:off x="116133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 rot="2700000">
            <a:off x="12070546" y="229066"/>
            <a:ext cx="90507" cy="90507"/>
          </a:xfrm>
          <a:prstGeom prst="rect">
            <a:avLst/>
          </a:prstGeom>
          <a:solidFill>
            <a:srgbClr val="3F7D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548640" y="6291072"/>
            <a:ext cx="11094415" cy="10972"/>
          </a:xfrm>
          <a:prstGeom prst="rect">
            <a:avLst/>
          </a:prstGeom>
          <a:solidFill>
            <a:srgbClr val="D8C8A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548640" y="6400800"/>
            <a:ext cx="7607808" cy="20446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250"/>
              </a:lnSpc>
            </a:pPr>
            <a:r>
              <a:rPr sz="1000" b="0">
                <a:solidFill>
                  <a:srgbClr val="6B6457"/>
                </a:solidFill>
                <a:latin typeface="Segoe UI"/>
              </a:rPr>
              <a:t>Axborot xavfsizligi · 36-mavzu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9814255" y="6400800"/>
            <a:ext cx="1901952" cy="20446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ts val="1250"/>
              </a:lnSpc>
            </a:pPr>
            <a:r>
              <a:rPr sz="1000" b="1">
                <a:solidFill>
                  <a:srgbClr val="6B6457"/>
                </a:solidFill>
                <a:latin typeface="Segoe UI"/>
              </a:rPr>
              <a:t>2 / 11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731520" y="566928"/>
            <a:ext cx="11157801" cy="2203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375"/>
              </a:lnSpc>
            </a:pPr>
            <a:r>
              <a:rPr sz="1100" b="1">
                <a:solidFill>
                  <a:srgbClr val="3F7D4E"/>
                </a:solidFill>
                <a:latin typeface="Segoe UI"/>
              </a:rPr>
              <a:t>36-MAVZU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731520" y="859536"/>
            <a:ext cx="11157801" cy="48387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3450"/>
              </a:lnSpc>
            </a:pPr>
            <a:r>
              <a:rPr sz="3000" b="1">
                <a:solidFill>
                  <a:srgbClr val="1B2A4A"/>
                </a:solidFill>
                <a:latin typeface="Georgia"/>
              </a:rPr>
              <a:t>Mashg‘ulot rejasi</a:t>
            </a:r>
          </a:p>
        </p:txBody>
      </p:sp>
      <p:sp>
        <p:nvSpPr>
          <p:cNvPr id="36" name="Rectangle 35"/>
          <p:cNvSpPr/>
          <p:nvPr/>
        </p:nvSpPr>
        <p:spPr>
          <a:xfrm>
            <a:off x="731520" y="1389126"/>
            <a:ext cx="822960" cy="45720"/>
          </a:xfrm>
          <a:prstGeom prst="rect">
            <a:avLst/>
          </a:prstGeom>
          <a:solidFill>
            <a:srgbClr val="3F7D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Rounded Rectangle 36"/>
          <p:cNvSpPr/>
          <p:nvPr/>
        </p:nvSpPr>
        <p:spPr>
          <a:xfrm>
            <a:off x="731520" y="1645158"/>
            <a:ext cx="10728655" cy="1234440"/>
          </a:xfrm>
          <a:prstGeom prst="roundRect">
            <a:avLst>
              <a:gd name="adj" fmla="val 5925"/>
            </a:avLst>
          </a:prstGeom>
          <a:solidFill>
            <a:srgbClr val="FBF6EC"/>
          </a:solidFill>
          <a:ln w="12700">
            <a:solidFill>
              <a:srgbClr val="D8C8A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Rectangle 37"/>
          <p:cNvSpPr/>
          <p:nvPr/>
        </p:nvSpPr>
        <p:spPr>
          <a:xfrm>
            <a:off x="1047356" y="2029574"/>
            <a:ext cx="465606" cy="465606"/>
          </a:xfrm>
          <a:prstGeom prst="rect">
            <a:avLst/>
          </a:prstGeom>
          <a:solidFill>
            <a:srgbClr val="3F7D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Rectangle 38"/>
          <p:cNvSpPr/>
          <p:nvPr/>
        </p:nvSpPr>
        <p:spPr>
          <a:xfrm rot="2700000">
            <a:off x="1047356" y="2029574"/>
            <a:ext cx="465606" cy="465606"/>
          </a:xfrm>
          <a:prstGeom prst="rect">
            <a:avLst/>
          </a:prstGeom>
          <a:solidFill>
            <a:srgbClr val="3F7D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1005840" y="2079498"/>
            <a:ext cx="570585" cy="2997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ts val="2000"/>
              </a:lnSpc>
            </a:pPr>
            <a:r>
              <a:rPr sz="2000" b="1">
                <a:solidFill>
                  <a:srgbClr val="F4EBDD"/>
                </a:solidFill>
                <a:latin typeface="Georgia"/>
              </a:rPr>
              <a:t>1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1828800" y="2079498"/>
            <a:ext cx="9826435" cy="41147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879"/>
              </a:lnSpc>
            </a:pPr>
            <a:r>
              <a:rPr sz="2400" b="1">
                <a:solidFill>
                  <a:srgbClr val="1B2A4A"/>
                </a:solidFill>
                <a:latin typeface="Georgia"/>
              </a:rPr>
              <a:t>Kriptografiya va shifrlash tushunchalari</a:t>
            </a:r>
          </a:p>
        </p:txBody>
      </p:sp>
      <p:sp>
        <p:nvSpPr>
          <p:cNvPr id="42" name="Rounded Rectangle 41"/>
          <p:cNvSpPr/>
          <p:nvPr/>
        </p:nvSpPr>
        <p:spPr>
          <a:xfrm>
            <a:off x="731520" y="3108198"/>
            <a:ext cx="10728655" cy="1234440"/>
          </a:xfrm>
          <a:prstGeom prst="roundRect">
            <a:avLst>
              <a:gd name="adj" fmla="val 5925"/>
            </a:avLst>
          </a:prstGeom>
          <a:solidFill>
            <a:srgbClr val="FBF6EC"/>
          </a:solidFill>
          <a:ln w="12700">
            <a:solidFill>
              <a:srgbClr val="D8C8A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Rectangle 42"/>
          <p:cNvSpPr/>
          <p:nvPr/>
        </p:nvSpPr>
        <p:spPr>
          <a:xfrm>
            <a:off x="1047356" y="3492614"/>
            <a:ext cx="465606" cy="465606"/>
          </a:xfrm>
          <a:prstGeom prst="rect">
            <a:avLst/>
          </a:prstGeom>
          <a:solidFill>
            <a:srgbClr val="3F7D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Rectangle 43"/>
          <p:cNvSpPr/>
          <p:nvPr/>
        </p:nvSpPr>
        <p:spPr>
          <a:xfrm rot="2700000">
            <a:off x="1047356" y="3492614"/>
            <a:ext cx="465606" cy="465606"/>
          </a:xfrm>
          <a:prstGeom prst="rect">
            <a:avLst/>
          </a:prstGeom>
          <a:solidFill>
            <a:srgbClr val="3F7D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1005840" y="3542538"/>
            <a:ext cx="570585" cy="2997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ts val="2000"/>
              </a:lnSpc>
            </a:pPr>
            <a:r>
              <a:rPr sz="2000" b="1">
                <a:solidFill>
                  <a:srgbClr val="F4EBDD"/>
                </a:solidFill>
                <a:latin typeface="Georgia"/>
              </a:rPr>
              <a:t>2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1828800" y="3542538"/>
            <a:ext cx="9826435" cy="41147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879"/>
              </a:lnSpc>
            </a:pPr>
            <a:r>
              <a:rPr sz="2400" b="1">
                <a:solidFill>
                  <a:srgbClr val="1B2A4A"/>
                </a:solidFill>
                <a:latin typeface="Georgia"/>
              </a:rPr>
              <a:t>Simmetrik va asimmetrik shifrlash</a:t>
            </a:r>
          </a:p>
        </p:txBody>
      </p:sp>
      <p:sp>
        <p:nvSpPr>
          <p:cNvPr id="47" name="Rounded Rectangle 46"/>
          <p:cNvSpPr/>
          <p:nvPr/>
        </p:nvSpPr>
        <p:spPr>
          <a:xfrm>
            <a:off x="731520" y="4571238"/>
            <a:ext cx="10728655" cy="1234440"/>
          </a:xfrm>
          <a:prstGeom prst="roundRect">
            <a:avLst>
              <a:gd name="adj" fmla="val 5925"/>
            </a:avLst>
          </a:prstGeom>
          <a:solidFill>
            <a:srgbClr val="FBF6EC"/>
          </a:solidFill>
          <a:ln w="12700">
            <a:solidFill>
              <a:srgbClr val="D8C8A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Rectangle 47"/>
          <p:cNvSpPr/>
          <p:nvPr/>
        </p:nvSpPr>
        <p:spPr>
          <a:xfrm>
            <a:off x="1047356" y="4955654"/>
            <a:ext cx="465606" cy="465606"/>
          </a:xfrm>
          <a:prstGeom prst="rect">
            <a:avLst/>
          </a:prstGeom>
          <a:solidFill>
            <a:srgbClr val="3F7D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Rectangle 48"/>
          <p:cNvSpPr/>
          <p:nvPr/>
        </p:nvSpPr>
        <p:spPr>
          <a:xfrm rot="2700000">
            <a:off x="1047356" y="4955654"/>
            <a:ext cx="465606" cy="465606"/>
          </a:xfrm>
          <a:prstGeom prst="rect">
            <a:avLst/>
          </a:prstGeom>
          <a:solidFill>
            <a:srgbClr val="3F7D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TextBox 49"/>
          <p:cNvSpPr txBox="1"/>
          <p:nvPr/>
        </p:nvSpPr>
        <p:spPr>
          <a:xfrm>
            <a:off x="1005840" y="5005578"/>
            <a:ext cx="570585" cy="2997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ts val="2000"/>
              </a:lnSpc>
            </a:pPr>
            <a:r>
              <a:rPr sz="2000" b="1">
                <a:solidFill>
                  <a:srgbClr val="F4EBDD"/>
                </a:solidFill>
                <a:latin typeface="Georgia"/>
              </a:rPr>
              <a:t>3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1828800" y="5005578"/>
            <a:ext cx="9826435" cy="41147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879"/>
              </a:lnSpc>
            </a:pPr>
            <a:r>
              <a:rPr sz="2400" b="1">
                <a:solidFill>
                  <a:srgbClr val="1B2A4A"/>
                </a:solidFill>
                <a:latin typeface="Georgia"/>
              </a:rPr>
              <a:t>Ma’lumotlarni zaxiralash va «3-2-1» qoidasi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BD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28016"/>
          </a:xfrm>
          <a:prstGeom prst="rect">
            <a:avLst/>
          </a:prstGeom>
          <a:solidFill>
            <a:srgbClr val="3F7D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 rot="2700000">
            <a:off x="183346" y="229066"/>
            <a:ext cx="90507" cy="90507"/>
          </a:xfrm>
          <a:prstGeom prst="rect">
            <a:avLst/>
          </a:prstGeom>
          <a:solidFill>
            <a:srgbClr val="3F7D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 rot="2700000">
            <a:off x="6405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 rot="2700000">
            <a:off x="1097746" y="229066"/>
            <a:ext cx="90507" cy="90507"/>
          </a:xfrm>
          <a:prstGeom prst="rect">
            <a:avLst/>
          </a:prstGeom>
          <a:solidFill>
            <a:srgbClr val="3F7D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 rot="2700000">
            <a:off x="15549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 rot="2700000">
            <a:off x="2012146" y="229066"/>
            <a:ext cx="90507" cy="90507"/>
          </a:xfrm>
          <a:prstGeom prst="rect">
            <a:avLst/>
          </a:prstGeom>
          <a:solidFill>
            <a:srgbClr val="3F7D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 rot="2700000">
            <a:off x="24693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 rot="2700000">
            <a:off x="2926546" y="229066"/>
            <a:ext cx="90507" cy="90507"/>
          </a:xfrm>
          <a:prstGeom prst="rect">
            <a:avLst/>
          </a:prstGeom>
          <a:solidFill>
            <a:srgbClr val="3F7D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 rot="2700000">
            <a:off x="33837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 rot="2700000">
            <a:off x="3840946" y="229066"/>
            <a:ext cx="90507" cy="90507"/>
          </a:xfrm>
          <a:prstGeom prst="rect">
            <a:avLst/>
          </a:prstGeom>
          <a:solidFill>
            <a:srgbClr val="3F7D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 rot="2700000">
            <a:off x="42981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 rot="2700000">
            <a:off x="4755346" y="229066"/>
            <a:ext cx="90507" cy="90507"/>
          </a:xfrm>
          <a:prstGeom prst="rect">
            <a:avLst/>
          </a:prstGeom>
          <a:solidFill>
            <a:srgbClr val="3F7D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 rot="2700000">
            <a:off x="52125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 rot="2700000">
            <a:off x="5669746" y="229066"/>
            <a:ext cx="90507" cy="90507"/>
          </a:xfrm>
          <a:prstGeom prst="rect">
            <a:avLst/>
          </a:prstGeom>
          <a:solidFill>
            <a:srgbClr val="3F7D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 rot="2700000">
            <a:off x="61269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 rot="2700000">
            <a:off x="6584146" y="229066"/>
            <a:ext cx="90507" cy="90507"/>
          </a:xfrm>
          <a:prstGeom prst="rect">
            <a:avLst/>
          </a:prstGeom>
          <a:solidFill>
            <a:srgbClr val="3F7D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 rot="2700000">
            <a:off x="70413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 rot="2700000">
            <a:off x="7498546" y="229066"/>
            <a:ext cx="90507" cy="90507"/>
          </a:xfrm>
          <a:prstGeom prst="rect">
            <a:avLst/>
          </a:prstGeom>
          <a:solidFill>
            <a:srgbClr val="3F7D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 rot="2700000">
            <a:off x="79557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 rot="2700000">
            <a:off x="8412946" y="229066"/>
            <a:ext cx="90507" cy="90507"/>
          </a:xfrm>
          <a:prstGeom prst="rect">
            <a:avLst/>
          </a:prstGeom>
          <a:solidFill>
            <a:srgbClr val="3F7D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 rot="2700000">
            <a:off x="88701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 rot="2700000">
            <a:off x="9327346" y="229066"/>
            <a:ext cx="90507" cy="90507"/>
          </a:xfrm>
          <a:prstGeom prst="rect">
            <a:avLst/>
          </a:prstGeom>
          <a:solidFill>
            <a:srgbClr val="3F7D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 rot="2700000">
            <a:off x="97845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 rot="2700000">
            <a:off x="10241746" y="229066"/>
            <a:ext cx="90507" cy="90507"/>
          </a:xfrm>
          <a:prstGeom prst="rect">
            <a:avLst/>
          </a:prstGeom>
          <a:solidFill>
            <a:srgbClr val="3F7D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 rot="2700000">
            <a:off x="106989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 rot="2700000">
            <a:off x="11156146" y="229066"/>
            <a:ext cx="90507" cy="90507"/>
          </a:xfrm>
          <a:prstGeom prst="rect">
            <a:avLst/>
          </a:prstGeom>
          <a:solidFill>
            <a:srgbClr val="3F7D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 rot="2700000">
            <a:off x="116133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 rot="2700000">
            <a:off x="12070546" y="229066"/>
            <a:ext cx="90507" cy="90507"/>
          </a:xfrm>
          <a:prstGeom prst="rect">
            <a:avLst/>
          </a:prstGeom>
          <a:solidFill>
            <a:srgbClr val="3F7D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548640" y="6291072"/>
            <a:ext cx="11094415" cy="10972"/>
          </a:xfrm>
          <a:prstGeom prst="rect">
            <a:avLst/>
          </a:prstGeom>
          <a:solidFill>
            <a:srgbClr val="D8C8A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548640" y="6400800"/>
            <a:ext cx="7607808" cy="20446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250"/>
              </a:lnSpc>
            </a:pPr>
            <a:r>
              <a:rPr sz="1000" b="0">
                <a:solidFill>
                  <a:srgbClr val="6B6457"/>
                </a:solidFill>
                <a:latin typeface="Segoe UI"/>
              </a:rPr>
              <a:t>Axborot xavfsizligi · 36-mavzu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9814255" y="6400800"/>
            <a:ext cx="1901952" cy="20446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ts val="1250"/>
              </a:lnSpc>
            </a:pPr>
            <a:r>
              <a:rPr sz="1000" b="1">
                <a:solidFill>
                  <a:srgbClr val="6B6457"/>
                </a:solidFill>
                <a:latin typeface="Segoe UI"/>
              </a:rPr>
              <a:t>3 / 11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731520" y="566928"/>
            <a:ext cx="11157801" cy="2203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375"/>
              </a:lnSpc>
            </a:pPr>
            <a:r>
              <a:rPr sz="1100" b="1">
                <a:solidFill>
                  <a:srgbClr val="3F7D4E"/>
                </a:solidFill>
                <a:latin typeface="Segoe UI"/>
              </a:rPr>
              <a:t>36-MAVZU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731520" y="859536"/>
            <a:ext cx="11157801" cy="48387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3450"/>
              </a:lnSpc>
            </a:pPr>
            <a:r>
              <a:rPr sz="3000" b="1">
                <a:solidFill>
                  <a:srgbClr val="1B2A4A"/>
                </a:solidFill>
                <a:latin typeface="Georgia"/>
              </a:rPr>
              <a:t>Maqsad va kutilayotgan natija</a:t>
            </a:r>
          </a:p>
        </p:txBody>
      </p:sp>
      <p:sp>
        <p:nvSpPr>
          <p:cNvPr id="36" name="Rectangle 35"/>
          <p:cNvSpPr/>
          <p:nvPr/>
        </p:nvSpPr>
        <p:spPr>
          <a:xfrm>
            <a:off x="731520" y="1389126"/>
            <a:ext cx="822960" cy="45720"/>
          </a:xfrm>
          <a:prstGeom prst="rect">
            <a:avLst/>
          </a:prstGeom>
          <a:solidFill>
            <a:srgbClr val="3F7D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Rounded Rectangle 36"/>
          <p:cNvSpPr/>
          <p:nvPr/>
        </p:nvSpPr>
        <p:spPr>
          <a:xfrm>
            <a:off x="731520" y="1645158"/>
            <a:ext cx="5181447" cy="4344161"/>
          </a:xfrm>
          <a:prstGeom prst="roundRect">
            <a:avLst>
              <a:gd name="adj" fmla="val 1683"/>
            </a:avLst>
          </a:prstGeom>
          <a:solidFill>
            <a:srgbClr val="FBF6EC"/>
          </a:solidFill>
          <a:ln w="12700">
            <a:solidFill>
              <a:srgbClr val="D8C8A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Rectangle 37"/>
          <p:cNvSpPr/>
          <p:nvPr/>
        </p:nvSpPr>
        <p:spPr>
          <a:xfrm>
            <a:off x="731520" y="1645158"/>
            <a:ext cx="5181447" cy="82296"/>
          </a:xfrm>
          <a:prstGeom prst="rect">
            <a:avLst/>
          </a:prstGeom>
          <a:solidFill>
            <a:srgbClr val="3F7D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1051560" y="1965198"/>
            <a:ext cx="4723022" cy="25209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625"/>
              </a:lnSpc>
            </a:pPr>
            <a:r>
              <a:rPr sz="1300" b="1">
                <a:solidFill>
                  <a:srgbClr val="3F7D4E"/>
                </a:solidFill>
                <a:latin typeface="Segoe UI"/>
              </a:rPr>
              <a:t>MAQSAD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1051560" y="2376678"/>
            <a:ext cx="4723022" cy="27203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3510"/>
              </a:lnSpc>
            </a:pPr>
            <a:r>
              <a:rPr sz="2600" b="0">
                <a:solidFill>
                  <a:srgbClr val="3A4560"/>
                </a:solidFill>
                <a:latin typeface="Segoe UI"/>
              </a:rPr>
              <a:t>O‘quvchilarga shifrlash, kalit,</a:t>
            </a:r>
            <a:br/>
            <a:r>
              <a:rPr sz="2600" b="0">
                <a:solidFill>
                  <a:srgbClr val="3A4560"/>
                </a:solidFill>
                <a:latin typeface="Segoe UI"/>
              </a:rPr>
              <a:t>simmetrik va asimmetrik</a:t>
            </a:r>
            <a:br/>
            <a:r>
              <a:rPr sz="2600" b="0">
                <a:solidFill>
                  <a:srgbClr val="3A4560"/>
                </a:solidFill>
                <a:latin typeface="Segoe UI"/>
              </a:rPr>
              <a:t>shifrlash tushunchalarini</a:t>
            </a:r>
            <a:br/>
            <a:r>
              <a:rPr sz="2600" b="0">
                <a:solidFill>
                  <a:srgbClr val="3A4560"/>
                </a:solidFill>
                <a:latin typeface="Segoe UI"/>
              </a:rPr>
              <a:t>hamda ma’lumotlarni</a:t>
            </a:r>
            <a:br/>
            <a:r>
              <a:rPr sz="2600" b="0">
                <a:solidFill>
                  <a:srgbClr val="3A4560"/>
                </a:solidFill>
                <a:latin typeface="Segoe UI"/>
              </a:rPr>
              <a:t>zaxiralash usullari va</a:t>
            </a:r>
            <a:br/>
            <a:r>
              <a:rPr sz="2600" b="0">
                <a:solidFill>
                  <a:srgbClr val="3A4560"/>
                </a:solidFill>
                <a:latin typeface="Segoe UI"/>
              </a:rPr>
              <a:t>qoidalarini tushuntirish.</a:t>
            </a:r>
          </a:p>
        </p:txBody>
      </p:sp>
      <p:sp>
        <p:nvSpPr>
          <p:cNvPr id="41" name="Rounded Rectangle 40"/>
          <p:cNvSpPr/>
          <p:nvPr/>
        </p:nvSpPr>
        <p:spPr>
          <a:xfrm>
            <a:off x="6278727" y="1645158"/>
            <a:ext cx="5181447" cy="4344161"/>
          </a:xfrm>
          <a:prstGeom prst="roundRect">
            <a:avLst>
              <a:gd name="adj" fmla="val 1683"/>
            </a:avLst>
          </a:prstGeom>
          <a:solidFill>
            <a:srgbClr val="FBF6EC"/>
          </a:solidFill>
          <a:ln w="12700">
            <a:solidFill>
              <a:srgbClr val="D8C8A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Rectangle 41"/>
          <p:cNvSpPr/>
          <p:nvPr/>
        </p:nvSpPr>
        <p:spPr>
          <a:xfrm>
            <a:off x="6278727" y="1645158"/>
            <a:ext cx="5181447" cy="82296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6598767" y="1965198"/>
            <a:ext cx="4723022" cy="25209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625"/>
              </a:lnSpc>
            </a:pPr>
            <a:r>
              <a:rPr sz="1300" b="1">
                <a:solidFill>
                  <a:srgbClr val="B9862A"/>
                </a:solidFill>
                <a:latin typeface="Segoe UI"/>
              </a:rPr>
              <a:t>KUTILAYOTGAN NATIJA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6598767" y="2376678"/>
            <a:ext cx="4723022" cy="227457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3510"/>
              </a:lnSpc>
            </a:pPr>
            <a:r>
              <a:rPr sz="2600" b="0">
                <a:solidFill>
                  <a:srgbClr val="3A4560"/>
                </a:solidFill>
                <a:latin typeface="Segoe UI"/>
              </a:rPr>
              <a:t>O‘quvchilar shifrlash turlarini</a:t>
            </a:r>
            <a:br/>
            <a:r>
              <a:rPr sz="2600" b="0">
                <a:solidFill>
                  <a:srgbClr val="3A4560"/>
                </a:solidFill>
                <a:latin typeface="Segoe UI"/>
              </a:rPr>
              <a:t>farqlaydi, oddiy shifrlash</a:t>
            </a:r>
            <a:br/>
            <a:r>
              <a:rPr sz="2600" b="0">
                <a:solidFill>
                  <a:srgbClr val="3A4560"/>
                </a:solidFill>
                <a:latin typeface="Segoe UI"/>
              </a:rPr>
              <a:t>misolini bajaradi, zaxiralash</a:t>
            </a:r>
            <a:br/>
            <a:r>
              <a:rPr sz="2600" b="0">
                <a:solidFill>
                  <a:srgbClr val="3A4560"/>
                </a:solidFill>
                <a:latin typeface="Segoe UI"/>
              </a:rPr>
              <a:t>turlarini taqqoslaydi va «3-2-1»</a:t>
            </a:r>
            <a:br/>
            <a:r>
              <a:rPr sz="2600" b="0">
                <a:solidFill>
                  <a:srgbClr val="3A4560"/>
                </a:solidFill>
                <a:latin typeface="Segoe UI"/>
              </a:rPr>
              <a:t>qoidasini qo‘llaydi.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BD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28016"/>
          </a:xfrm>
          <a:prstGeom prst="rect">
            <a:avLst/>
          </a:prstGeom>
          <a:solidFill>
            <a:srgbClr val="3F7D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 rot="2700000">
            <a:off x="183346" y="229066"/>
            <a:ext cx="90507" cy="90507"/>
          </a:xfrm>
          <a:prstGeom prst="rect">
            <a:avLst/>
          </a:prstGeom>
          <a:solidFill>
            <a:srgbClr val="3F7D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 rot="2700000">
            <a:off x="6405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 rot="2700000">
            <a:off x="1097746" y="229066"/>
            <a:ext cx="90507" cy="90507"/>
          </a:xfrm>
          <a:prstGeom prst="rect">
            <a:avLst/>
          </a:prstGeom>
          <a:solidFill>
            <a:srgbClr val="3F7D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 rot="2700000">
            <a:off x="15549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 rot="2700000">
            <a:off x="2012146" y="229066"/>
            <a:ext cx="90507" cy="90507"/>
          </a:xfrm>
          <a:prstGeom prst="rect">
            <a:avLst/>
          </a:prstGeom>
          <a:solidFill>
            <a:srgbClr val="3F7D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 rot="2700000">
            <a:off x="24693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 rot="2700000">
            <a:off x="2926546" y="229066"/>
            <a:ext cx="90507" cy="90507"/>
          </a:xfrm>
          <a:prstGeom prst="rect">
            <a:avLst/>
          </a:prstGeom>
          <a:solidFill>
            <a:srgbClr val="3F7D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 rot="2700000">
            <a:off x="33837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 rot="2700000">
            <a:off x="3840946" y="229066"/>
            <a:ext cx="90507" cy="90507"/>
          </a:xfrm>
          <a:prstGeom prst="rect">
            <a:avLst/>
          </a:prstGeom>
          <a:solidFill>
            <a:srgbClr val="3F7D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 rot="2700000">
            <a:off x="42981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 rot="2700000">
            <a:off x="4755346" y="229066"/>
            <a:ext cx="90507" cy="90507"/>
          </a:xfrm>
          <a:prstGeom prst="rect">
            <a:avLst/>
          </a:prstGeom>
          <a:solidFill>
            <a:srgbClr val="3F7D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 rot="2700000">
            <a:off x="52125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 rot="2700000">
            <a:off x="5669746" y="229066"/>
            <a:ext cx="90507" cy="90507"/>
          </a:xfrm>
          <a:prstGeom prst="rect">
            <a:avLst/>
          </a:prstGeom>
          <a:solidFill>
            <a:srgbClr val="3F7D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 rot="2700000">
            <a:off x="61269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 rot="2700000">
            <a:off x="6584146" y="229066"/>
            <a:ext cx="90507" cy="90507"/>
          </a:xfrm>
          <a:prstGeom prst="rect">
            <a:avLst/>
          </a:prstGeom>
          <a:solidFill>
            <a:srgbClr val="3F7D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 rot="2700000">
            <a:off x="70413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 rot="2700000">
            <a:off x="7498546" y="229066"/>
            <a:ext cx="90507" cy="90507"/>
          </a:xfrm>
          <a:prstGeom prst="rect">
            <a:avLst/>
          </a:prstGeom>
          <a:solidFill>
            <a:srgbClr val="3F7D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 rot="2700000">
            <a:off x="79557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 rot="2700000">
            <a:off x="8412946" y="229066"/>
            <a:ext cx="90507" cy="90507"/>
          </a:xfrm>
          <a:prstGeom prst="rect">
            <a:avLst/>
          </a:prstGeom>
          <a:solidFill>
            <a:srgbClr val="3F7D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 rot="2700000">
            <a:off x="88701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 rot="2700000">
            <a:off x="9327346" y="229066"/>
            <a:ext cx="90507" cy="90507"/>
          </a:xfrm>
          <a:prstGeom prst="rect">
            <a:avLst/>
          </a:prstGeom>
          <a:solidFill>
            <a:srgbClr val="3F7D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 rot="2700000">
            <a:off x="97845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 rot="2700000">
            <a:off x="10241746" y="229066"/>
            <a:ext cx="90507" cy="90507"/>
          </a:xfrm>
          <a:prstGeom prst="rect">
            <a:avLst/>
          </a:prstGeom>
          <a:solidFill>
            <a:srgbClr val="3F7D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 rot="2700000">
            <a:off x="106989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 rot="2700000">
            <a:off x="11156146" y="229066"/>
            <a:ext cx="90507" cy="90507"/>
          </a:xfrm>
          <a:prstGeom prst="rect">
            <a:avLst/>
          </a:prstGeom>
          <a:solidFill>
            <a:srgbClr val="3F7D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 rot="2700000">
            <a:off x="116133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 rot="2700000">
            <a:off x="12070546" y="229066"/>
            <a:ext cx="90507" cy="90507"/>
          </a:xfrm>
          <a:prstGeom prst="rect">
            <a:avLst/>
          </a:prstGeom>
          <a:solidFill>
            <a:srgbClr val="3F7D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548640" y="6291072"/>
            <a:ext cx="11094415" cy="10972"/>
          </a:xfrm>
          <a:prstGeom prst="rect">
            <a:avLst/>
          </a:prstGeom>
          <a:solidFill>
            <a:srgbClr val="D8C8A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548640" y="6400800"/>
            <a:ext cx="7607808" cy="20446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250"/>
              </a:lnSpc>
            </a:pPr>
            <a:r>
              <a:rPr sz="1000" b="0">
                <a:solidFill>
                  <a:srgbClr val="6B6457"/>
                </a:solidFill>
                <a:latin typeface="Segoe UI"/>
              </a:rPr>
              <a:t>Axborot xavfsizligi · 36-mavzu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9814255" y="6400800"/>
            <a:ext cx="1901952" cy="20446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ts val="1250"/>
              </a:lnSpc>
            </a:pPr>
            <a:r>
              <a:rPr sz="1000" b="1">
                <a:solidFill>
                  <a:srgbClr val="6B6457"/>
                </a:solidFill>
                <a:latin typeface="Segoe UI"/>
              </a:rPr>
              <a:t>4 / 11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731520" y="566928"/>
            <a:ext cx="11157801" cy="2203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375"/>
              </a:lnSpc>
            </a:pPr>
            <a:r>
              <a:rPr sz="1100" b="1">
                <a:solidFill>
                  <a:srgbClr val="3F7D4E"/>
                </a:solidFill>
                <a:latin typeface="Segoe UI"/>
              </a:rPr>
              <a:t>1-REJA · KRIPTOGRAFIYA VA SHIFRLASH TUSHUNCHALARI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731520" y="859536"/>
            <a:ext cx="11157801" cy="48387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3450"/>
              </a:lnSpc>
            </a:pPr>
            <a:r>
              <a:rPr sz="3000" b="1">
                <a:solidFill>
                  <a:srgbClr val="1B2A4A"/>
                </a:solidFill>
                <a:latin typeface="Georgia"/>
              </a:rPr>
              <a:t>Shifrlash nima?</a:t>
            </a:r>
          </a:p>
        </p:txBody>
      </p:sp>
      <p:sp>
        <p:nvSpPr>
          <p:cNvPr id="36" name="Rectangle 35"/>
          <p:cNvSpPr/>
          <p:nvPr/>
        </p:nvSpPr>
        <p:spPr>
          <a:xfrm>
            <a:off x="731520" y="1389126"/>
            <a:ext cx="822960" cy="45720"/>
          </a:xfrm>
          <a:prstGeom prst="rect">
            <a:avLst/>
          </a:prstGeom>
          <a:solidFill>
            <a:srgbClr val="3F7D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Rectangle 36"/>
          <p:cNvSpPr/>
          <p:nvPr/>
        </p:nvSpPr>
        <p:spPr>
          <a:xfrm rot="2700000">
            <a:off x="841161" y="1794931"/>
            <a:ext cx="109901" cy="109901"/>
          </a:xfrm>
          <a:prstGeom prst="rect">
            <a:avLst/>
          </a:prstGeom>
          <a:solidFill>
            <a:srgbClr val="3F7D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1143000" y="1645158"/>
            <a:ext cx="10729862" cy="891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3328"/>
              </a:lnSpc>
            </a:pPr>
            <a:r>
              <a:rPr sz="2600" b="1">
                <a:solidFill>
                  <a:srgbClr val="1B2A4A"/>
                </a:solidFill>
                <a:latin typeface="Segoe UI"/>
              </a:rPr>
              <a:t>Kriptografiya: </a:t>
            </a:r>
            <a:r>
              <a:rPr sz="2600" b="0">
                <a:solidFill>
                  <a:srgbClr val="1B2A4A"/>
                </a:solidFill>
                <a:latin typeface="Segoe UI"/>
              </a:rPr>
              <a:t>axborotni begona shaxslar o‘qiy olmaydigan</a:t>
            </a:r>
            <a:br/>
            <a:r>
              <a:rPr sz="2600" b="0">
                <a:solidFill>
                  <a:srgbClr val="1B2A4A"/>
                </a:solidFill>
                <a:latin typeface="Segoe UI"/>
              </a:rPr>
              <a:t>ko‘rinishga keltirish usullari haqidagi fan.</a:t>
            </a:r>
          </a:p>
        </p:txBody>
      </p:sp>
      <p:sp>
        <p:nvSpPr>
          <p:cNvPr id="39" name="Rectangle 38"/>
          <p:cNvSpPr/>
          <p:nvPr/>
        </p:nvSpPr>
        <p:spPr>
          <a:xfrm rot="2700000">
            <a:off x="841161" y="2786547"/>
            <a:ext cx="109901" cy="109901"/>
          </a:xfrm>
          <a:prstGeom prst="rect">
            <a:avLst/>
          </a:prstGeom>
          <a:solidFill>
            <a:srgbClr val="3F7D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1143000" y="2636774"/>
            <a:ext cx="10729862" cy="891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3328"/>
              </a:lnSpc>
            </a:pPr>
            <a:r>
              <a:rPr sz="2600" b="1">
                <a:solidFill>
                  <a:srgbClr val="1B2A4A"/>
                </a:solidFill>
                <a:latin typeface="Segoe UI"/>
              </a:rPr>
              <a:t>Shifrlash: </a:t>
            </a:r>
            <a:r>
              <a:rPr sz="2600" b="0">
                <a:solidFill>
                  <a:srgbClr val="1B2A4A"/>
                </a:solidFill>
                <a:latin typeface="Segoe UI"/>
              </a:rPr>
              <a:t>ochiq matnni maxsus algoritm va kalit yordamida</a:t>
            </a:r>
            <a:br/>
            <a:r>
              <a:rPr sz="2600" b="0">
                <a:solidFill>
                  <a:srgbClr val="1B2A4A"/>
                </a:solidFill>
                <a:latin typeface="Segoe UI"/>
              </a:rPr>
              <a:t>tushunarsiz shifrmatnga aylantirish jarayoni.</a:t>
            </a:r>
          </a:p>
        </p:txBody>
      </p:sp>
      <p:sp>
        <p:nvSpPr>
          <p:cNvPr id="41" name="Rectangle 40"/>
          <p:cNvSpPr/>
          <p:nvPr/>
        </p:nvSpPr>
        <p:spPr>
          <a:xfrm rot="2700000">
            <a:off x="841161" y="3778163"/>
            <a:ext cx="109901" cy="109901"/>
          </a:xfrm>
          <a:prstGeom prst="rect">
            <a:avLst/>
          </a:prstGeom>
          <a:solidFill>
            <a:srgbClr val="3F7D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1143000" y="3628390"/>
            <a:ext cx="10729862" cy="891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3328"/>
              </a:lnSpc>
            </a:pPr>
            <a:r>
              <a:rPr sz="2600" b="1">
                <a:solidFill>
                  <a:srgbClr val="1B2A4A"/>
                </a:solidFill>
                <a:latin typeface="Segoe UI"/>
              </a:rPr>
              <a:t>Deshifrlash: </a:t>
            </a:r>
            <a:r>
              <a:rPr sz="2600" b="0">
                <a:solidFill>
                  <a:srgbClr val="1B2A4A"/>
                </a:solidFill>
                <a:latin typeface="Segoe UI"/>
              </a:rPr>
              <a:t>shifrmatnni kalit yordamida qayta ochiq matnga</a:t>
            </a:r>
            <a:br/>
            <a:r>
              <a:rPr sz="2600" b="0">
                <a:solidFill>
                  <a:srgbClr val="1B2A4A"/>
                </a:solidFill>
                <a:latin typeface="Segoe UI"/>
              </a:rPr>
              <a:t>aylantirish.</a:t>
            </a:r>
          </a:p>
        </p:txBody>
      </p:sp>
      <p:sp>
        <p:nvSpPr>
          <p:cNvPr id="43" name="Rectangle 42"/>
          <p:cNvSpPr/>
          <p:nvPr/>
        </p:nvSpPr>
        <p:spPr>
          <a:xfrm rot="2700000">
            <a:off x="841161" y="4769779"/>
            <a:ext cx="109901" cy="109901"/>
          </a:xfrm>
          <a:prstGeom prst="rect">
            <a:avLst/>
          </a:prstGeom>
          <a:solidFill>
            <a:srgbClr val="3F7D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1143000" y="4620006"/>
            <a:ext cx="10729862" cy="46837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3328"/>
              </a:lnSpc>
            </a:pPr>
            <a:r>
              <a:rPr sz="2600" b="1">
                <a:solidFill>
                  <a:srgbClr val="1B2A4A"/>
                </a:solidFill>
                <a:latin typeface="Segoe UI"/>
              </a:rPr>
              <a:t>Kalit: </a:t>
            </a:r>
            <a:r>
              <a:rPr sz="2600" b="0">
                <a:solidFill>
                  <a:srgbClr val="1B2A4A"/>
                </a:solidFill>
                <a:latin typeface="Segoe UI"/>
              </a:rPr>
              <a:t>shifrlash va deshifrlash uchun ishlatiladigan maxfiy qiymat.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BD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28016"/>
          </a:xfrm>
          <a:prstGeom prst="rect">
            <a:avLst/>
          </a:prstGeom>
          <a:solidFill>
            <a:srgbClr val="3F7D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 rot="2700000">
            <a:off x="183346" y="229066"/>
            <a:ext cx="90507" cy="90507"/>
          </a:xfrm>
          <a:prstGeom prst="rect">
            <a:avLst/>
          </a:prstGeom>
          <a:solidFill>
            <a:srgbClr val="3F7D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 rot="2700000">
            <a:off x="6405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 rot="2700000">
            <a:off x="1097746" y="229066"/>
            <a:ext cx="90507" cy="90507"/>
          </a:xfrm>
          <a:prstGeom prst="rect">
            <a:avLst/>
          </a:prstGeom>
          <a:solidFill>
            <a:srgbClr val="3F7D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 rot="2700000">
            <a:off x="15549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 rot="2700000">
            <a:off x="2012146" y="229066"/>
            <a:ext cx="90507" cy="90507"/>
          </a:xfrm>
          <a:prstGeom prst="rect">
            <a:avLst/>
          </a:prstGeom>
          <a:solidFill>
            <a:srgbClr val="3F7D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 rot="2700000">
            <a:off x="24693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 rot="2700000">
            <a:off x="2926546" y="229066"/>
            <a:ext cx="90507" cy="90507"/>
          </a:xfrm>
          <a:prstGeom prst="rect">
            <a:avLst/>
          </a:prstGeom>
          <a:solidFill>
            <a:srgbClr val="3F7D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 rot="2700000">
            <a:off x="33837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 rot="2700000">
            <a:off x="3840946" y="229066"/>
            <a:ext cx="90507" cy="90507"/>
          </a:xfrm>
          <a:prstGeom prst="rect">
            <a:avLst/>
          </a:prstGeom>
          <a:solidFill>
            <a:srgbClr val="3F7D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 rot="2700000">
            <a:off x="42981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 rot="2700000">
            <a:off x="4755346" y="229066"/>
            <a:ext cx="90507" cy="90507"/>
          </a:xfrm>
          <a:prstGeom prst="rect">
            <a:avLst/>
          </a:prstGeom>
          <a:solidFill>
            <a:srgbClr val="3F7D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 rot="2700000">
            <a:off x="52125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 rot="2700000">
            <a:off x="5669746" y="229066"/>
            <a:ext cx="90507" cy="90507"/>
          </a:xfrm>
          <a:prstGeom prst="rect">
            <a:avLst/>
          </a:prstGeom>
          <a:solidFill>
            <a:srgbClr val="3F7D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 rot="2700000">
            <a:off x="61269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 rot="2700000">
            <a:off x="6584146" y="229066"/>
            <a:ext cx="90507" cy="90507"/>
          </a:xfrm>
          <a:prstGeom prst="rect">
            <a:avLst/>
          </a:prstGeom>
          <a:solidFill>
            <a:srgbClr val="3F7D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 rot="2700000">
            <a:off x="70413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 rot="2700000">
            <a:off x="7498546" y="229066"/>
            <a:ext cx="90507" cy="90507"/>
          </a:xfrm>
          <a:prstGeom prst="rect">
            <a:avLst/>
          </a:prstGeom>
          <a:solidFill>
            <a:srgbClr val="3F7D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 rot="2700000">
            <a:off x="79557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 rot="2700000">
            <a:off x="8412946" y="229066"/>
            <a:ext cx="90507" cy="90507"/>
          </a:xfrm>
          <a:prstGeom prst="rect">
            <a:avLst/>
          </a:prstGeom>
          <a:solidFill>
            <a:srgbClr val="3F7D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 rot="2700000">
            <a:off x="88701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 rot="2700000">
            <a:off x="9327346" y="229066"/>
            <a:ext cx="90507" cy="90507"/>
          </a:xfrm>
          <a:prstGeom prst="rect">
            <a:avLst/>
          </a:prstGeom>
          <a:solidFill>
            <a:srgbClr val="3F7D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 rot="2700000">
            <a:off x="97845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 rot="2700000">
            <a:off x="10241746" y="229066"/>
            <a:ext cx="90507" cy="90507"/>
          </a:xfrm>
          <a:prstGeom prst="rect">
            <a:avLst/>
          </a:prstGeom>
          <a:solidFill>
            <a:srgbClr val="3F7D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 rot="2700000">
            <a:off x="106989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 rot="2700000">
            <a:off x="11156146" y="229066"/>
            <a:ext cx="90507" cy="90507"/>
          </a:xfrm>
          <a:prstGeom prst="rect">
            <a:avLst/>
          </a:prstGeom>
          <a:solidFill>
            <a:srgbClr val="3F7D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 rot="2700000">
            <a:off x="116133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 rot="2700000">
            <a:off x="12070546" y="229066"/>
            <a:ext cx="90507" cy="90507"/>
          </a:xfrm>
          <a:prstGeom prst="rect">
            <a:avLst/>
          </a:prstGeom>
          <a:solidFill>
            <a:srgbClr val="3F7D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548640" y="6291072"/>
            <a:ext cx="11094415" cy="10972"/>
          </a:xfrm>
          <a:prstGeom prst="rect">
            <a:avLst/>
          </a:prstGeom>
          <a:solidFill>
            <a:srgbClr val="D8C8A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548640" y="6400800"/>
            <a:ext cx="7607808" cy="20446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250"/>
              </a:lnSpc>
            </a:pPr>
            <a:r>
              <a:rPr sz="1000" b="0">
                <a:solidFill>
                  <a:srgbClr val="6B6457"/>
                </a:solidFill>
                <a:latin typeface="Segoe UI"/>
              </a:rPr>
              <a:t>Axborot xavfsizligi · 36-mavzu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9814255" y="6400800"/>
            <a:ext cx="1901952" cy="20446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ts val="1250"/>
              </a:lnSpc>
            </a:pPr>
            <a:r>
              <a:rPr sz="1000" b="1">
                <a:solidFill>
                  <a:srgbClr val="6B6457"/>
                </a:solidFill>
                <a:latin typeface="Segoe UI"/>
              </a:rPr>
              <a:t>5 / 11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731520" y="566928"/>
            <a:ext cx="11157801" cy="2203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375"/>
              </a:lnSpc>
            </a:pPr>
            <a:r>
              <a:rPr sz="1100" b="1">
                <a:solidFill>
                  <a:srgbClr val="3F7D4E"/>
                </a:solidFill>
                <a:latin typeface="Segoe UI"/>
              </a:rPr>
              <a:t>1-REJA · KRIPTOGRAFIYA VA SHIFRLASH TUSHUNCHALARI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731520" y="859536"/>
            <a:ext cx="11157801" cy="48387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3450"/>
              </a:lnSpc>
            </a:pPr>
            <a:r>
              <a:rPr sz="3000" b="1">
                <a:solidFill>
                  <a:srgbClr val="1B2A4A"/>
                </a:solidFill>
                <a:latin typeface="Georgia"/>
              </a:rPr>
              <a:t>Sezar shifri</a:t>
            </a:r>
          </a:p>
        </p:txBody>
      </p:sp>
      <p:sp>
        <p:nvSpPr>
          <p:cNvPr id="36" name="Rectangle 35"/>
          <p:cNvSpPr/>
          <p:nvPr/>
        </p:nvSpPr>
        <p:spPr>
          <a:xfrm>
            <a:off x="731520" y="1389126"/>
            <a:ext cx="822960" cy="45720"/>
          </a:xfrm>
          <a:prstGeom prst="rect">
            <a:avLst/>
          </a:prstGeom>
          <a:solidFill>
            <a:srgbClr val="3F7D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Rectangle 36"/>
          <p:cNvSpPr/>
          <p:nvPr/>
        </p:nvSpPr>
        <p:spPr>
          <a:xfrm>
            <a:off x="731520" y="1608582"/>
            <a:ext cx="45720" cy="700532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960120" y="1645158"/>
            <a:ext cx="10920057" cy="6731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470"/>
              </a:lnSpc>
            </a:pPr>
            <a:r>
              <a:rPr sz="1900" b="0">
                <a:solidFill>
                  <a:srgbClr val="3A4560"/>
                </a:solidFill>
                <a:latin typeface="Segoe UI"/>
              </a:rPr>
              <a:t>Eng qadimgi shifrlardan biri — Sezar shifri: har bir harf alifboda belgilangan songa suriladi. Kalit 3</a:t>
            </a:r>
            <a:br/>
            <a:r>
              <a:rPr sz="1900" b="0">
                <a:solidFill>
                  <a:srgbClr val="3A4560"/>
                </a:solidFill>
                <a:latin typeface="Segoe UI"/>
              </a:rPr>
              <a:t>bo‘lsa: A → D, B → E, C → F.</a:t>
            </a:r>
          </a:p>
        </p:txBody>
      </p:sp>
      <p:graphicFrame>
        <p:nvGraphicFramePr>
          <p:cNvPr id="39" name="Table 38"/>
          <p:cNvGraphicFramePr>
            <a:graphicFrameLocks noGrp="1"/>
          </p:cNvGraphicFramePr>
          <p:nvPr/>
        </p:nvGraphicFramePr>
        <p:xfrm>
          <a:off x="731520" y="2501138"/>
          <a:ext cx="10728653" cy="96901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155486"/>
                <a:gridCol w="2524389"/>
                <a:gridCol w="2524389"/>
                <a:gridCol w="2524389"/>
              </a:tblGrid>
              <a:tr h="484505">
                <a:tc>
                  <a:txBody>
                    <a:bodyPr wrap="square"/>
                    <a:lstStyle/>
                    <a:p>
                      <a:r>
                        <a:rPr sz="1900" b="1">
                          <a:solidFill>
                            <a:srgbClr val="F4EBDD"/>
                          </a:solidFill>
                          <a:latin typeface="Segoe UI"/>
                        </a:rPr>
                        <a:t>Ochiq matn</a:t>
                      </a:r>
                    </a:p>
                  </a:txBody>
                  <a:tcPr marL="109728" marR="109728" marT="73152" marB="73152">
                    <a:solidFill>
                      <a:srgbClr val="3F7D4E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900" b="1">
                          <a:solidFill>
                            <a:srgbClr val="F4EBDD"/>
                          </a:solidFill>
                          <a:latin typeface="Segoe UI"/>
                        </a:rPr>
                        <a:t>K</a:t>
                      </a:r>
                    </a:p>
                  </a:txBody>
                  <a:tcPr marL="109728" marR="109728" marT="73152" marB="73152">
                    <a:solidFill>
                      <a:srgbClr val="3F7D4E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900" b="1">
                          <a:solidFill>
                            <a:srgbClr val="F4EBDD"/>
                          </a:solidFill>
                          <a:latin typeface="Segoe UI"/>
                        </a:rPr>
                        <a:t>O</a:t>
                      </a:r>
                    </a:p>
                  </a:txBody>
                  <a:tcPr marL="109728" marR="109728" marT="73152" marB="73152">
                    <a:solidFill>
                      <a:srgbClr val="3F7D4E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900" b="1">
                          <a:solidFill>
                            <a:srgbClr val="F4EBDD"/>
                          </a:solidFill>
                          <a:latin typeface="Segoe UI"/>
                        </a:rPr>
                        <a:t>D</a:t>
                      </a:r>
                    </a:p>
                  </a:txBody>
                  <a:tcPr marL="109728" marR="109728" marT="73152" marB="73152">
                    <a:solidFill>
                      <a:srgbClr val="3F7D4E"/>
                    </a:solidFill>
                  </a:tcPr>
                </a:tc>
              </a:tr>
              <a:tr h="484505">
                <a:tc>
                  <a:txBody>
                    <a:bodyPr wrap="square"/>
                    <a:lstStyle/>
                    <a:p>
                      <a:r>
                        <a:rPr sz="1900" b="0">
                          <a:solidFill>
                            <a:srgbClr val="1B2A4A"/>
                          </a:solidFill>
                          <a:latin typeface="Segoe UI"/>
                        </a:rPr>
                        <a:t>Kalit = 3</a:t>
                      </a:r>
                    </a:p>
                  </a:txBody>
                  <a:tcPr marL="109728" marR="109728" marT="73152" marB="73152">
                    <a:solidFill>
                      <a:srgbClr val="FBF6EC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900" b="0">
                          <a:solidFill>
                            <a:srgbClr val="1B2A4A"/>
                          </a:solidFill>
                          <a:latin typeface="Segoe UI"/>
                        </a:rPr>
                        <a:t>N</a:t>
                      </a:r>
                    </a:p>
                  </a:txBody>
                  <a:tcPr marL="109728" marR="109728" marT="73152" marB="73152">
                    <a:solidFill>
                      <a:srgbClr val="FBF6EC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900" b="0">
                          <a:solidFill>
                            <a:srgbClr val="1B2A4A"/>
                          </a:solidFill>
                          <a:latin typeface="Segoe UI"/>
                        </a:rPr>
                        <a:t>R</a:t>
                      </a:r>
                    </a:p>
                  </a:txBody>
                  <a:tcPr marL="109728" marR="109728" marT="73152" marB="73152">
                    <a:solidFill>
                      <a:srgbClr val="FBF6EC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900" b="0">
                          <a:solidFill>
                            <a:srgbClr val="1B2A4A"/>
                          </a:solidFill>
                          <a:latin typeface="Segoe UI"/>
                        </a:rPr>
                        <a:t>G</a:t>
                      </a:r>
                    </a:p>
                  </a:txBody>
                  <a:tcPr marL="109728" marR="109728" marT="73152" marB="73152">
                    <a:solidFill>
                      <a:srgbClr val="FBF6EC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BD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28016"/>
          </a:xfrm>
          <a:prstGeom prst="rect">
            <a:avLst/>
          </a:prstGeom>
          <a:solidFill>
            <a:srgbClr val="3F7D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 rot="2700000">
            <a:off x="183346" y="229066"/>
            <a:ext cx="90507" cy="90507"/>
          </a:xfrm>
          <a:prstGeom prst="rect">
            <a:avLst/>
          </a:prstGeom>
          <a:solidFill>
            <a:srgbClr val="3F7D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 rot="2700000">
            <a:off x="6405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 rot="2700000">
            <a:off x="1097746" y="229066"/>
            <a:ext cx="90507" cy="90507"/>
          </a:xfrm>
          <a:prstGeom prst="rect">
            <a:avLst/>
          </a:prstGeom>
          <a:solidFill>
            <a:srgbClr val="3F7D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 rot="2700000">
            <a:off x="15549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 rot="2700000">
            <a:off x="2012146" y="229066"/>
            <a:ext cx="90507" cy="90507"/>
          </a:xfrm>
          <a:prstGeom prst="rect">
            <a:avLst/>
          </a:prstGeom>
          <a:solidFill>
            <a:srgbClr val="3F7D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 rot="2700000">
            <a:off x="24693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 rot="2700000">
            <a:off x="2926546" y="229066"/>
            <a:ext cx="90507" cy="90507"/>
          </a:xfrm>
          <a:prstGeom prst="rect">
            <a:avLst/>
          </a:prstGeom>
          <a:solidFill>
            <a:srgbClr val="3F7D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 rot="2700000">
            <a:off x="33837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 rot="2700000">
            <a:off x="3840946" y="229066"/>
            <a:ext cx="90507" cy="90507"/>
          </a:xfrm>
          <a:prstGeom prst="rect">
            <a:avLst/>
          </a:prstGeom>
          <a:solidFill>
            <a:srgbClr val="3F7D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 rot="2700000">
            <a:off x="42981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 rot="2700000">
            <a:off x="4755346" y="229066"/>
            <a:ext cx="90507" cy="90507"/>
          </a:xfrm>
          <a:prstGeom prst="rect">
            <a:avLst/>
          </a:prstGeom>
          <a:solidFill>
            <a:srgbClr val="3F7D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 rot="2700000">
            <a:off x="52125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 rot="2700000">
            <a:off x="5669746" y="229066"/>
            <a:ext cx="90507" cy="90507"/>
          </a:xfrm>
          <a:prstGeom prst="rect">
            <a:avLst/>
          </a:prstGeom>
          <a:solidFill>
            <a:srgbClr val="3F7D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 rot="2700000">
            <a:off x="61269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 rot="2700000">
            <a:off x="6584146" y="229066"/>
            <a:ext cx="90507" cy="90507"/>
          </a:xfrm>
          <a:prstGeom prst="rect">
            <a:avLst/>
          </a:prstGeom>
          <a:solidFill>
            <a:srgbClr val="3F7D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 rot="2700000">
            <a:off x="70413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 rot="2700000">
            <a:off x="7498546" y="229066"/>
            <a:ext cx="90507" cy="90507"/>
          </a:xfrm>
          <a:prstGeom prst="rect">
            <a:avLst/>
          </a:prstGeom>
          <a:solidFill>
            <a:srgbClr val="3F7D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 rot="2700000">
            <a:off x="79557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 rot="2700000">
            <a:off x="8412946" y="229066"/>
            <a:ext cx="90507" cy="90507"/>
          </a:xfrm>
          <a:prstGeom prst="rect">
            <a:avLst/>
          </a:prstGeom>
          <a:solidFill>
            <a:srgbClr val="3F7D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 rot="2700000">
            <a:off x="88701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 rot="2700000">
            <a:off x="9327346" y="229066"/>
            <a:ext cx="90507" cy="90507"/>
          </a:xfrm>
          <a:prstGeom prst="rect">
            <a:avLst/>
          </a:prstGeom>
          <a:solidFill>
            <a:srgbClr val="3F7D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 rot="2700000">
            <a:off x="97845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 rot="2700000">
            <a:off x="10241746" y="229066"/>
            <a:ext cx="90507" cy="90507"/>
          </a:xfrm>
          <a:prstGeom prst="rect">
            <a:avLst/>
          </a:prstGeom>
          <a:solidFill>
            <a:srgbClr val="3F7D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 rot="2700000">
            <a:off x="106989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 rot="2700000">
            <a:off x="11156146" y="229066"/>
            <a:ext cx="90507" cy="90507"/>
          </a:xfrm>
          <a:prstGeom prst="rect">
            <a:avLst/>
          </a:prstGeom>
          <a:solidFill>
            <a:srgbClr val="3F7D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 rot="2700000">
            <a:off x="116133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 rot="2700000">
            <a:off x="12070546" y="229066"/>
            <a:ext cx="90507" cy="90507"/>
          </a:xfrm>
          <a:prstGeom prst="rect">
            <a:avLst/>
          </a:prstGeom>
          <a:solidFill>
            <a:srgbClr val="3F7D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548640" y="6291072"/>
            <a:ext cx="11094415" cy="10972"/>
          </a:xfrm>
          <a:prstGeom prst="rect">
            <a:avLst/>
          </a:prstGeom>
          <a:solidFill>
            <a:srgbClr val="D8C8A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548640" y="6400800"/>
            <a:ext cx="7607808" cy="20446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250"/>
              </a:lnSpc>
            </a:pPr>
            <a:r>
              <a:rPr sz="1000" b="0">
                <a:solidFill>
                  <a:srgbClr val="6B6457"/>
                </a:solidFill>
                <a:latin typeface="Segoe UI"/>
              </a:rPr>
              <a:t>Axborot xavfsizligi · 36-mavzu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9814255" y="6400800"/>
            <a:ext cx="1901952" cy="20446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ts val="1250"/>
              </a:lnSpc>
            </a:pPr>
            <a:r>
              <a:rPr sz="1000" b="1">
                <a:solidFill>
                  <a:srgbClr val="6B6457"/>
                </a:solidFill>
                <a:latin typeface="Segoe UI"/>
              </a:rPr>
              <a:t>6 / 11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731520" y="566928"/>
            <a:ext cx="11157801" cy="2203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375"/>
              </a:lnSpc>
            </a:pPr>
            <a:r>
              <a:rPr sz="1100" b="1">
                <a:solidFill>
                  <a:srgbClr val="3F7D4E"/>
                </a:solidFill>
                <a:latin typeface="Segoe UI"/>
              </a:rPr>
              <a:t>2-REJA · SIMMETRIK VA ASIMMETRIK SHIFRLASH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731520" y="859536"/>
            <a:ext cx="11157801" cy="48387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3450"/>
              </a:lnSpc>
            </a:pPr>
            <a:r>
              <a:rPr sz="3000" b="1">
                <a:solidFill>
                  <a:srgbClr val="1B2A4A"/>
                </a:solidFill>
                <a:latin typeface="Georgia"/>
              </a:rPr>
              <a:t>Shifrlash turlari</a:t>
            </a:r>
          </a:p>
        </p:txBody>
      </p:sp>
      <p:sp>
        <p:nvSpPr>
          <p:cNvPr id="36" name="Rectangle 35"/>
          <p:cNvSpPr/>
          <p:nvPr/>
        </p:nvSpPr>
        <p:spPr>
          <a:xfrm>
            <a:off x="731520" y="1389126"/>
            <a:ext cx="822960" cy="45720"/>
          </a:xfrm>
          <a:prstGeom prst="rect">
            <a:avLst/>
          </a:prstGeom>
          <a:solidFill>
            <a:srgbClr val="3F7D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Rectangle 36"/>
          <p:cNvSpPr/>
          <p:nvPr/>
        </p:nvSpPr>
        <p:spPr>
          <a:xfrm>
            <a:off x="731520" y="1608582"/>
            <a:ext cx="45720" cy="700532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960120" y="1645158"/>
            <a:ext cx="10920057" cy="6731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470"/>
              </a:lnSpc>
            </a:pPr>
            <a:r>
              <a:rPr sz="1900" b="0">
                <a:solidFill>
                  <a:srgbClr val="3A4560"/>
                </a:solidFill>
                <a:latin typeface="Segoe UI"/>
              </a:rPr>
              <a:t>Asimmetrik shifrlashni pochta qutisiga o‘xshatish mumkin: xat tashlash uchun teshik hammaga</a:t>
            </a:r>
            <a:br/>
            <a:r>
              <a:rPr sz="1900" b="0">
                <a:solidFill>
                  <a:srgbClr val="3A4560"/>
                </a:solidFill>
                <a:latin typeface="Segoe UI"/>
              </a:rPr>
              <a:t>ochiq (ochiq kalit), qutini ochish kaliti esa faqat egasida (yopiq kalit).</a:t>
            </a:r>
          </a:p>
        </p:txBody>
      </p:sp>
      <p:graphicFrame>
        <p:nvGraphicFramePr>
          <p:cNvPr id="39" name="Table 38"/>
          <p:cNvGraphicFramePr>
            <a:graphicFrameLocks noGrp="1"/>
          </p:cNvGraphicFramePr>
          <p:nvPr/>
        </p:nvGraphicFramePr>
        <p:xfrm>
          <a:off x="731520" y="2501138"/>
          <a:ext cx="10728654" cy="2056765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909208"/>
                <a:gridCol w="5091565"/>
                <a:gridCol w="727366"/>
                <a:gridCol w="4000515"/>
              </a:tblGrid>
              <a:tr h="484505">
                <a:tc>
                  <a:txBody>
                    <a:bodyPr wrap="square"/>
                    <a:lstStyle/>
                    <a:p>
                      <a:r>
                        <a:rPr sz="1900" b="1">
                          <a:solidFill>
                            <a:srgbClr val="F4EBDD"/>
                          </a:solidFill>
                          <a:latin typeface="Segoe UI"/>
                        </a:rPr>
                        <a:t>Turi</a:t>
                      </a:r>
                    </a:p>
                  </a:txBody>
                  <a:tcPr marL="109728" marR="109728" marT="73152" marB="73152">
                    <a:solidFill>
                      <a:srgbClr val="3F7D4E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900" b="1">
                          <a:solidFill>
                            <a:srgbClr val="F4EBDD"/>
                          </a:solidFill>
                          <a:latin typeface="Segoe UI"/>
                        </a:rPr>
                        <a:t>Kalitlar</a:t>
                      </a:r>
                    </a:p>
                  </a:txBody>
                  <a:tcPr marL="109728" marR="109728" marT="73152" marB="73152">
                    <a:solidFill>
                      <a:srgbClr val="3F7D4E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900" b="1">
                          <a:solidFill>
                            <a:srgbClr val="F4EBDD"/>
                          </a:solidFill>
                          <a:latin typeface="Segoe UI"/>
                        </a:rPr>
                        <a:t>Misollar</a:t>
                      </a:r>
                    </a:p>
                  </a:txBody>
                  <a:tcPr marL="109728" marR="109728" marT="73152" marB="73152">
                    <a:solidFill>
                      <a:srgbClr val="3F7D4E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900" b="1">
                          <a:solidFill>
                            <a:srgbClr val="F4EBDD"/>
                          </a:solidFill>
                          <a:latin typeface="Segoe UI"/>
                        </a:rPr>
                        <a:t>Qo‘llanishi</a:t>
                      </a:r>
                    </a:p>
                  </a:txBody>
                  <a:tcPr marL="109728" marR="109728" marT="73152" marB="73152">
                    <a:solidFill>
                      <a:srgbClr val="3F7D4E"/>
                    </a:solidFill>
                  </a:tcPr>
                </a:tc>
              </a:tr>
              <a:tr h="786130">
                <a:tc>
                  <a:txBody>
                    <a:bodyPr wrap="square"/>
                    <a:lstStyle/>
                    <a:p>
                      <a:r>
                        <a:rPr sz="1900" b="0">
                          <a:solidFill>
                            <a:srgbClr val="1B2A4A"/>
                          </a:solidFill>
                          <a:latin typeface="Segoe UI"/>
                        </a:rPr>
                        <a:t>Simmetrik</a:t>
                      </a:r>
                    </a:p>
                  </a:txBody>
                  <a:tcPr marL="109728" marR="109728" marT="73152" marB="73152">
                    <a:solidFill>
                      <a:srgbClr val="FBF6EC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900" b="0">
                          <a:solidFill>
                            <a:srgbClr val="1B2A4A"/>
                          </a:solidFill>
                          <a:latin typeface="Segoe UI"/>
                        </a:rPr>
                        <a:t>Shifrlash va ochish uchun bitta umumiy kalit</a:t>
                      </a:r>
                    </a:p>
                  </a:txBody>
                  <a:tcPr marL="109728" marR="109728" marT="73152" marB="73152">
                    <a:solidFill>
                      <a:srgbClr val="FBF6EC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900" b="0">
                          <a:solidFill>
                            <a:srgbClr val="1B2A4A"/>
                          </a:solidFill>
                          <a:latin typeface="Segoe UI"/>
                        </a:rPr>
                        <a:t>AES, DES</a:t>
                      </a:r>
                    </a:p>
                  </a:txBody>
                  <a:tcPr marL="109728" marR="109728" marT="73152" marB="73152">
                    <a:solidFill>
                      <a:srgbClr val="FBF6EC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900" b="0">
                          <a:solidFill>
                            <a:srgbClr val="1B2A4A"/>
                          </a:solidFill>
                          <a:latin typeface="Segoe UI"/>
                        </a:rPr>
                        <a:t>Disk va fayllarni shifrlash, Wi-Fi</a:t>
                      </a:r>
                    </a:p>
                  </a:txBody>
                  <a:tcPr marL="109728" marR="109728" marT="73152" marB="73152">
                    <a:solidFill>
                      <a:srgbClr val="FBF6EC"/>
                    </a:solidFill>
                  </a:tcPr>
                </a:tc>
              </a:tr>
              <a:tr h="786130">
                <a:tc>
                  <a:txBody>
                    <a:bodyPr wrap="square"/>
                    <a:lstStyle/>
                    <a:p>
                      <a:r>
                        <a:rPr sz="1900" b="0">
                          <a:solidFill>
                            <a:srgbClr val="1B2A4A"/>
                          </a:solidFill>
                          <a:latin typeface="Segoe UI"/>
                        </a:rPr>
                        <a:t>Asimmetrik</a:t>
                      </a:r>
                    </a:p>
                  </a:txBody>
                  <a:tcPr marL="109728" marR="109728" marT="73152" marB="73152">
                    <a:solidFill>
                      <a:srgbClr val="ECDFCB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900" b="0">
                          <a:solidFill>
                            <a:srgbClr val="1B2A4A"/>
                          </a:solidFill>
                          <a:latin typeface="Segoe UI"/>
                        </a:rPr>
                        <a:t>Ochiq kalit (shifrlash) va yopiq kalit (ochish) juftligi</a:t>
                      </a:r>
                    </a:p>
                  </a:txBody>
                  <a:tcPr marL="109728" marR="109728" marT="73152" marB="73152">
                    <a:solidFill>
                      <a:srgbClr val="ECDFCB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900" b="0">
                          <a:solidFill>
                            <a:srgbClr val="1B2A4A"/>
                          </a:solidFill>
                          <a:latin typeface="Segoe UI"/>
                        </a:rPr>
                        <a:t>RSA, ECC</a:t>
                      </a:r>
                    </a:p>
                  </a:txBody>
                  <a:tcPr marL="109728" marR="109728" marT="73152" marB="73152">
                    <a:solidFill>
                      <a:srgbClr val="ECDFCB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900" b="0">
                          <a:solidFill>
                            <a:srgbClr val="1B2A4A"/>
                          </a:solidFill>
                          <a:latin typeface="Segoe UI"/>
                        </a:rPr>
                        <a:t>HTTPS, elektron raqamli imzo, xavfsiz pochta</a:t>
                      </a:r>
                    </a:p>
                  </a:txBody>
                  <a:tcPr marL="109728" marR="109728" marT="73152" marB="73152">
                    <a:solidFill>
                      <a:srgbClr val="ECDFCB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BD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28016"/>
          </a:xfrm>
          <a:prstGeom prst="rect">
            <a:avLst/>
          </a:prstGeom>
          <a:solidFill>
            <a:srgbClr val="3F7D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 rot="2700000">
            <a:off x="183346" y="229066"/>
            <a:ext cx="90507" cy="90507"/>
          </a:xfrm>
          <a:prstGeom prst="rect">
            <a:avLst/>
          </a:prstGeom>
          <a:solidFill>
            <a:srgbClr val="3F7D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 rot="2700000">
            <a:off x="6405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 rot="2700000">
            <a:off x="1097746" y="229066"/>
            <a:ext cx="90507" cy="90507"/>
          </a:xfrm>
          <a:prstGeom prst="rect">
            <a:avLst/>
          </a:prstGeom>
          <a:solidFill>
            <a:srgbClr val="3F7D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 rot="2700000">
            <a:off x="15549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 rot="2700000">
            <a:off x="2012146" y="229066"/>
            <a:ext cx="90507" cy="90507"/>
          </a:xfrm>
          <a:prstGeom prst="rect">
            <a:avLst/>
          </a:prstGeom>
          <a:solidFill>
            <a:srgbClr val="3F7D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 rot="2700000">
            <a:off x="24693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 rot="2700000">
            <a:off x="2926546" y="229066"/>
            <a:ext cx="90507" cy="90507"/>
          </a:xfrm>
          <a:prstGeom prst="rect">
            <a:avLst/>
          </a:prstGeom>
          <a:solidFill>
            <a:srgbClr val="3F7D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 rot="2700000">
            <a:off x="33837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 rot="2700000">
            <a:off x="3840946" y="229066"/>
            <a:ext cx="90507" cy="90507"/>
          </a:xfrm>
          <a:prstGeom prst="rect">
            <a:avLst/>
          </a:prstGeom>
          <a:solidFill>
            <a:srgbClr val="3F7D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 rot="2700000">
            <a:off x="42981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 rot="2700000">
            <a:off x="4755346" y="229066"/>
            <a:ext cx="90507" cy="90507"/>
          </a:xfrm>
          <a:prstGeom prst="rect">
            <a:avLst/>
          </a:prstGeom>
          <a:solidFill>
            <a:srgbClr val="3F7D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 rot="2700000">
            <a:off x="52125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 rot="2700000">
            <a:off x="5669746" y="229066"/>
            <a:ext cx="90507" cy="90507"/>
          </a:xfrm>
          <a:prstGeom prst="rect">
            <a:avLst/>
          </a:prstGeom>
          <a:solidFill>
            <a:srgbClr val="3F7D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 rot="2700000">
            <a:off x="61269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 rot="2700000">
            <a:off x="6584146" y="229066"/>
            <a:ext cx="90507" cy="90507"/>
          </a:xfrm>
          <a:prstGeom prst="rect">
            <a:avLst/>
          </a:prstGeom>
          <a:solidFill>
            <a:srgbClr val="3F7D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 rot="2700000">
            <a:off x="70413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 rot="2700000">
            <a:off x="7498546" y="229066"/>
            <a:ext cx="90507" cy="90507"/>
          </a:xfrm>
          <a:prstGeom prst="rect">
            <a:avLst/>
          </a:prstGeom>
          <a:solidFill>
            <a:srgbClr val="3F7D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 rot="2700000">
            <a:off x="79557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 rot="2700000">
            <a:off x="8412946" y="229066"/>
            <a:ext cx="90507" cy="90507"/>
          </a:xfrm>
          <a:prstGeom prst="rect">
            <a:avLst/>
          </a:prstGeom>
          <a:solidFill>
            <a:srgbClr val="3F7D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 rot="2700000">
            <a:off x="88701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 rot="2700000">
            <a:off x="9327346" y="229066"/>
            <a:ext cx="90507" cy="90507"/>
          </a:xfrm>
          <a:prstGeom prst="rect">
            <a:avLst/>
          </a:prstGeom>
          <a:solidFill>
            <a:srgbClr val="3F7D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 rot="2700000">
            <a:off x="97845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 rot="2700000">
            <a:off x="10241746" y="229066"/>
            <a:ext cx="90507" cy="90507"/>
          </a:xfrm>
          <a:prstGeom prst="rect">
            <a:avLst/>
          </a:prstGeom>
          <a:solidFill>
            <a:srgbClr val="3F7D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 rot="2700000">
            <a:off x="106989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 rot="2700000">
            <a:off x="11156146" y="229066"/>
            <a:ext cx="90507" cy="90507"/>
          </a:xfrm>
          <a:prstGeom prst="rect">
            <a:avLst/>
          </a:prstGeom>
          <a:solidFill>
            <a:srgbClr val="3F7D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 rot="2700000">
            <a:off x="116133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 rot="2700000">
            <a:off x="12070546" y="229066"/>
            <a:ext cx="90507" cy="90507"/>
          </a:xfrm>
          <a:prstGeom prst="rect">
            <a:avLst/>
          </a:prstGeom>
          <a:solidFill>
            <a:srgbClr val="3F7D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548640" y="6291072"/>
            <a:ext cx="11094415" cy="10972"/>
          </a:xfrm>
          <a:prstGeom prst="rect">
            <a:avLst/>
          </a:prstGeom>
          <a:solidFill>
            <a:srgbClr val="D8C8A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548640" y="6400800"/>
            <a:ext cx="7607808" cy="20446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250"/>
              </a:lnSpc>
            </a:pPr>
            <a:r>
              <a:rPr sz="1000" b="0">
                <a:solidFill>
                  <a:srgbClr val="6B6457"/>
                </a:solidFill>
                <a:latin typeface="Segoe UI"/>
              </a:rPr>
              <a:t>Axborot xavfsizligi · 36-mavzu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9814255" y="6400800"/>
            <a:ext cx="1901952" cy="20446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ts val="1250"/>
              </a:lnSpc>
            </a:pPr>
            <a:r>
              <a:rPr sz="1000" b="1">
                <a:solidFill>
                  <a:srgbClr val="6B6457"/>
                </a:solidFill>
                <a:latin typeface="Segoe UI"/>
              </a:rPr>
              <a:t>7 / 11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731520" y="566928"/>
            <a:ext cx="11157801" cy="2203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375"/>
              </a:lnSpc>
            </a:pPr>
            <a:r>
              <a:rPr sz="1100" b="1">
                <a:solidFill>
                  <a:srgbClr val="3F7D4E"/>
                </a:solidFill>
                <a:latin typeface="Segoe UI"/>
              </a:rPr>
              <a:t>3-REJA · MA’LUMOTLARNI ZAXIRALASH VA «3-2-1» QOIDASI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731520" y="859536"/>
            <a:ext cx="11157801" cy="48387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3450"/>
              </a:lnSpc>
            </a:pPr>
            <a:r>
              <a:rPr sz="3000" b="1">
                <a:solidFill>
                  <a:srgbClr val="1B2A4A"/>
                </a:solidFill>
                <a:latin typeface="Georgia"/>
              </a:rPr>
              <a:t>Zaxiralash</a:t>
            </a:r>
          </a:p>
        </p:txBody>
      </p:sp>
      <p:sp>
        <p:nvSpPr>
          <p:cNvPr id="36" name="Rectangle 35"/>
          <p:cNvSpPr/>
          <p:nvPr/>
        </p:nvSpPr>
        <p:spPr>
          <a:xfrm>
            <a:off x="731520" y="1389126"/>
            <a:ext cx="822960" cy="45720"/>
          </a:xfrm>
          <a:prstGeom prst="rect">
            <a:avLst/>
          </a:prstGeom>
          <a:solidFill>
            <a:srgbClr val="3F7D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37" name="Table 36"/>
          <p:cNvGraphicFramePr>
            <a:graphicFrameLocks noGrp="1"/>
          </p:cNvGraphicFramePr>
          <p:nvPr/>
        </p:nvGraphicFramePr>
        <p:xfrm>
          <a:off x="731520" y="1645158"/>
          <a:ext cx="10728653" cy="2842895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499880"/>
                <a:gridCol w="4895599"/>
                <a:gridCol w="3333174"/>
              </a:tblGrid>
              <a:tr h="484505">
                <a:tc>
                  <a:txBody>
                    <a:bodyPr wrap="square"/>
                    <a:lstStyle/>
                    <a:p>
                      <a:r>
                        <a:rPr sz="1900" b="1">
                          <a:solidFill>
                            <a:srgbClr val="F4EBDD"/>
                          </a:solidFill>
                          <a:latin typeface="Segoe UI"/>
                        </a:rPr>
                        <a:t>Zaxiralash turi</a:t>
                      </a:r>
                    </a:p>
                  </a:txBody>
                  <a:tcPr marL="109728" marR="109728" marT="73152" marB="73152">
                    <a:solidFill>
                      <a:srgbClr val="3F7D4E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900" b="1">
                          <a:solidFill>
                            <a:srgbClr val="F4EBDD"/>
                          </a:solidFill>
                          <a:latin typeface="Segoe UI"/>
                        </a:rPr>
                        <a:t>Nima nusxalanadi</a:t>
                      </a:r>
                    </a:p>
                  </a:txBody>
                  <a:tcPr marL="109728" marR="109728" marT="73152" marB="73152">
                    <a:solidFill>
                      <a:srgbClr val="3F7D4E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900" b="1">
                          <a:solidFill>
                            <a:srgbClr val="F4EBDD"/>
                          </a:solidFill>
                          <a:latin typeface="Segoe UI"/>
                        </a:rPr>
                        <a:t>Afzalligi</a:t>
                      </a:r>
                    </a:p>
                  </a:txBody>
                  <a:tcPr marL="109728" marR="109728" marT="73152" marB="73152">
                    <a:solidFill>
                      <a:srgbClr val="3F7D4E"/>
                    </a:solidFill>
                  </a:tcPr>
                </a:tc>
              </a:tr>
              <a:tr h="786130">
                <a:tc>
                  <a:txBody>
                    <a:bodyPr wrap="square"/>
                    <a:lstStyle/>
                    <a:p>
                      <a:r>
                        <a:rPr sz="1900" b="0">
                          <a:solidFill>
                            <a:srgbClr val="1B2A4A"/>
                          </a:solidFill>
                          <a:latin typeface="Segoe UI"/>
                        </a:rPr>
                        <a:t>To‘liq</a:t>
                      </a:r>
                    </a:p>
                  </a:txBody>
                  <a:tcPr marL="109728" marR="109728" marT="73152" marB="73152">
                    <a:solidFill>
                      <a:srgbClr val="FBF6EC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900" b="0">
                          <a:solidFill>
                            <a:srgbClr val="1B2A4A"/>
                          </a:solidFill>
                          <a:latin typeface="Segoe UI"/>
                        </a:rPr>
                        <a:t>Barcha tanlangan ma’lumotlar</a:t>
                      </a:r>
                    </a:p>
                  </a:txBody>
                  <a:tcPr marL="109728" marR="109728" marT="73152" marB="73152">
                    <a:solidFill>
                      <a:srgbClr val="FBF6EC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900" b="0">
                          <a:solidFill>
                            <a:srgbClr val="1B2A4A"/>
                          </a:solidFill>
                          <a:latin typeface="Segoe UI"/>
                        </a:rPr>
                        <a:t>Tiklash oson, ko‘p joy egallaydi</a:t>
                      </a:r>
                    </a:p>
                  </a:txBody>
                  <a:tcPr marL="109728" marR="109728" marT="73152" marB="73152">
                    <a:solidFill>
                      <a:srgbClr val="FBF6EC"/>
                    </a:solidFill>
                  </a:tcPr>
                </a:tc>
              </a:tr>
              <a:tr h="786130">
                <a:tc>
                  <a:txBody>
                    <a:bodyPr wrap="square"/>
                    <a:lstStyle/>
                    <a:p>
                      <a:r>
                        <a:rPr sz="1900" b="0">
                          <a:solidFill>
                            <a:srgbClr val="1B2A4A"/>
                          </a:solidFill>
                          <a:latin typeface="Segoe UI"/>
                        </a:rPr>
                        <a:t>Qo‘shimcha (inkremental)</a:t>
                      </a:r>
                    </a:p>
                  </a:txBody>
                  <a:tcPr marL="109728" marR="109728" marT="73152" marB="73152">
                    <a:solidFill>
                      <a:srgbClr val="ECDFCB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900" b="0">
                          <a:solidFill>
                            <a:srgbClr val="1B2A4A"/>
                          </a:solidFill>
                          <a:latin typeface="Segoe UI"/>
                        </a:rPr>
                        <a:t>Oxirgi zaxiradan keyin o‘zgargan fayllar</a:t>
                      </a:r>
                    </a:p>
                  </a:txBody>
                  <a:tcPr marL="109728" marR="109728" marT="73152" marB="73152">
                    <a:solidFill>
                      <a:srgbClr val="ECDFCB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900" b="0">
                          <a:solidFill>
                            <a:srgbClr val="1B2A4A"/>
                          </a:solidFill>
                          <a:latin typeface="Segoe UI"/>
                        </a:rPr>
                        <a:t>Tez va kam joy egallaydi</a:t>
                      </a:r>
                    </a:p>
                  </a:txBody>
                  <a:tcPr marL="109728" marR="109728" marT="73152" marB="73152">
                    <a:solidFill>
                      <a:srgbClr val="ECDFCB"/>
                    </a:solidFill>
                  </a:tcPr>
                </a:tc>
              </a:tr>
              <a:tr h="786130">
                <a:tc>
                  <a:txBody>
                    <a:bodyPr wrap="square"/>
                    <a:lstStyle/>
                    <a:p>
                      <a:r>
                        <a:rPr sz="1900" b="0">
                          <a:solidFill>
                            <a:srgbClr val="1B2A4A"/>
                          </a:solidFill>
                          <a:latin typeface="Segoe UI"/>
                        </a:rPr>
                        <a:t>Differensial</a:t>
                      </a:r>
                    </a:p>
                  </a:txBody>
                  <a:tcPr marL="109728" marR="109728" marT="73152" marB="73152">
                    <a:solidFill>
                      <a:srgbClr val="FBF6EC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900" b="0">
                          <a:solidFill>
                            <a:srgbClr val="1B2A4A"/>
                          </a:solidFill>
                          <a:latin typeface="Segoe UI"/>
                        </a:rPr>
                        <a:t>Oxirgi to‘liq zaxiradan keyin o‘zgargan fayllar</a:t>
                      </a:r>
                    </a:p>
                  </a:txBody>
                  <a:tcPr marL="109728" marR="109728" marT="73152" marB="73152">
                    <a:solidFill>
                      <a:srgbClr val="FBF6EC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900" b="0">
                          <a:solidFill>
                            <a:srgbClr val="1B2A4A"/>
                          </a:solidFill>
                          <a:latin typeface="Segoe UI"/>
                        </a:rPr>
                        <a:t>Tiklash inkrementaldan tezroq</a:t>
                      </a:r>
                    </a:p>
                  </a:txBody>
                  <a:tcPr marL="109728" marR="109728" marT="73152" marB="73152">
                    <a:solidFill>
                      <a:srgbClr val="FBF6EC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BD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28016"/>
          </a:xfrm>
          <a:prstGeom prst="rect">
            <a:avLst/>
          </a:prstGeom>
          <a:solidFill>
            <a:srgbClr val="3F7D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 rot="2700000">
            <a:off x="183346" y="229066"/>
            <a:ext cx="90507" cy="90507"/>
          </a:xfrm>
          <a:prstGeom prst="rect">
            <a:avLst/>
          </a:prstGeom>
          <a:solidFill>
            <a:srgbClr val="3F7D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 rot="2700000">
            <a:off x="6405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 rot="2700000">
            <a:off x="1097746" y="229066"/>
            <a:ext cx="90507" cy="90507"/>
          </a:xfrm>
          <a:prstGeom prst="rect">
            <a:avLst/>
          </a:prstGeom>
          <a:solidFill>
            <a:srgbClr val="3F7D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 rot="2700000">
            <a:off x="15549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 rot="2700000">
            <a:off x="2012146" y="229066"/>
            <a:ext cx="90507" cy="90507"/>
          </a:xfrm>
          <a:prstGeom prst="rect">
            <a:avLst/>
          </a:prstGeom>
          <a:solidFill>
            <a:srgbClr val="3F7D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 rot="2700000">
            <a:off x="24693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 rot="2700000">
            <a:off x="2926546" y="229066"/>
            <a:ext cx="90507" cy="90507"/>
          </a:xfrm>
          <a:prstGeom prst="rect">
            <a:avLst/>
          </a:prstGeom>
          <a:solidFill>
            <a:srgbClr val="3F7D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 rot="2700000">
            <a:off x="33837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 rot="2700000">
            <a:off x="3840946" y="229066"/>
            <a:ext cx="90507" cy="90507"/>
          </a:xfrm>
          <a:prstGeom prst="rect">
            <a:avLst/>
          </a:prstGeom>
          <a:solidFill>
            <a:srgbClr val="3F7D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 rot="2700000">
            <a:off x="42981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 rot="2700000">
            <a:off x="4755346" y="229066"/>
            <a:ext cx="90507" cy="90507"/>
          </a:xfrm>
          <a:prstGeom prst="rect">
            <a:avLst/>
          </a:prstGeom>
          <a:solidFill>
            <a:srgbClr val="3F7D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 rot="2700000">
            <a:off x="52125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 rot="2700000">
            <a:off x="5669746" y="229066"/>
            <a:ext cx="90507" cy="90507"/>
          </a:xfrm>
          <a:prstGeom prst="rect">
            <a:avLst/>
          </a:prstGeom>
          <a:solidFill>
            <a:srgbClr val="3F7D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 rot="2700000">
            <a:off x="61269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 rot="2700000">
            <a:off x="6584146" y="229066"/>
            <a:ext cx="90507" cy="90507"/>
          </a:xfrm>
          <a:prstGeom prst="rect">
            <a:avLst/>
          </a:prstGeom>
          <a:solidFill>
            <a:srgbClr val="3F7D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 rot="2700000">
            <a:off x="70413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 rot="2700000">
            <a:off x="7498546" y="229066"/>
            <a:ext cx="90507" cy="90507"/>
          </a:xfrm>
          <a:prstGeom prst="rect">
            <a:avLst/>
          </a:prstGeom>
          <a:solidFill>
            <a:srgbClr val="3F7D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 rot="2700000">
            <a:off x="79557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 rot="2700000">
            <a:off x="8412946" y="229066"/>
            <a:ext cx="90507" cy="90507"/>
          </a:xfrm>
          <a:prstGeom prst="rect">
            <a:avLst/>
          </a:prstGeom>
          <a:solidFill>
            <a:srgbClr val="3F7D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 rot="2700000">
            <a:off x="88701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 rot="2700000">
            <a:off x="9327346" y="229066"/>
            <a:ext cx="90507" cy="90507"/>
          </a:xfrm>
          <a:prstGeom prst="rect">
            <a:avLst/>
          </a:prstGeom>
          <a:solidFill>
            <a:srgbClr val="3F7D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 rot="2700000">
            <a:off x="97845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 rot="2700000">
            <a:off x="10241746" y="229066"/>
            <a:ext cx="90507" cy="90507"/>
          </a:xfrm>
          <a:prstGeom prst="rect">
            <a:avLst/>
          </a:prstGeom>
          <a:solidFill>
            <a:srgbClr val="3F7D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 rot="2700000">
            <a:off x="106989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 rot="2700000">
            <a:off x="11156146" y="229066"/>
            <a:ext cx="90507" cy="90507"/>
          </a:xfrm>
          <a:prstGeom prst="rect">
            <a:avLst/>
          </a:prstGeom>
          <a:solidFill>
            <a:srgbClr val="3F7D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 rot="2700000">
            <a:off x="116133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 rot="2700000">
            <a:off x="12070546" y="229066"/>
            <a:ext cx="90507" cy="90507"/>
          </a:xfrm>
          <a:prstGeom prst="rect">
            <a:avLst/>
          </a:prstGeom>
          <a:solidFill>
            <a:srgbClr val="3F7D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548640" y="6291072"/>
            <a:ext cx="11094415" cy="10972"/>
          </a:xfrm>
          <a:prstGeom prst="rect">
            <a:avLst/>
          </a:prstGeom>
          <a:solidFill>
            <a:srgbClr val="D8C8A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548640" y="6400800"/>
            <a:ext cx="7607808" cy="20446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250"/>
              </a:lnSpc>
            </a:pPr>
            <a:r>
              <a:rPr sz="1000" b="0">
                <a:solidFill>
                  <a:srgbClr val="6B6457"/>
                </a:solidFill>
                <a:latin typeface="Segoe UI"/>
              </a:rPr>
              <a:t>Axborot xavfsizligi · 36-mavzu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9814255" y="6400800"/>
            <a:ext cx="1901952" cy="20446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ts val="1250"/>
              </a:lnSpc>
            </a:pPr>
            <a:r>
              <a:rPr sz="1000" b="1">
                <a:solidFill>
                  <a:srgbClr val="6B6457"/>
                </a:solidFill>
                <a:latin typeface="Segoe UI"/>
              </a:rPr>
              <a:t>8 / 11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731520" y="566928"/>
            <a:ext cx="11157801" cy="2203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375"/>
              </a:lnSpc>
            </a:pPr>
            <a:r>
              <a:rPr sz="1100" b="1">
                <a:solidFill>
                  <a:srgbClr val="3F7D4E"/>
                </a:solidFill>
                <a:latin typeface="Segoe UI"/>
              </a:rPr>
              <a:t>3-REJA · MA’LUMOTLARNI ZAXIRALASH VA «3-2-1» QOIDASI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731520" y="859536"/>
            <a:ext cx="11157801" cy="48387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3450"/>
              </a:lnSpc>
            </a:pPr>
            <a:r>
              <a:rPr sz="3000" b="1">
                <a:solidFill>
                  <a:srgbClr val="1B2A4A"/>
                </a:solidFill>
                <a:latin typeface="Georgia"/>
              </a:rPr>
              <a:t>«3-2-1» qoidasi</a:t>
            </a:r>
          </a:p>
        </p:txBody>
      </p:sp>
      <p:sp>
        <p:nvSpPr>
          <p:cNvPr id="36" name="Rectangle 35"/>
          <p:cNvSpPr/>
          <p:nvPr/>
        </p:nvSpPr>
        <p:spPr>
          <a:xfrm>
            <a:off x="731520" y="1389126"/>
            <a:ext cx="822960" cy="45720"/>
          </a:xfrm>
          <a:prstGeom prst="rect">
            <a:avLst/>
          </a:prstGeom>
          <a:solidFill>
            <a:srgbClr val="3F7D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Rectangle 36"/>
          <p:cNvSpPr/>
          <p:nvPr/>
        </p:nvSpPr>
        <p:spPr>
          <a:xfrm>
            <a:off x="731520" y="1608582"/>
            <a:ext cx="45720" cy="1410462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960120" y="1645158"/>
            <a:ext cx="10920057" cy="138303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3510"/>
              </a:lnSpc>
            </a:pPr>
            <a:r>
              <a:rPr sz="2700" b="0">
                <a:solidFill>
                  <a:srgbClr val="3A4560"/>
                </a:solidFill>
                <a:latin typeface="Segoe UI"/>
              </a:rPr>
              <a:t>Zaxira nusxadan tiklash vaqti-vaqti bilan sinab ko‘riladi — tiklab</a:t>
            </a:r>
            <a:br/>
            <a:r>
              <a:rPr sz="2700" b="0">
                <a:solidFill>
                  <a:srgbClr val="3A4560"/>
                </a:solidFill>
                <a:latin typeface="Segoe UI"/>
              </a:rPr>
              <a:t>bo‘lmaydigan zaxira foydasiz. Zaxira disk doimiy ulanib turmasligi</a:t>
            </a:r>
            <a:br/>
            <a:r>
              <a:rPr sz="2700" b="0">
                <a:solidFill>
                  <a:srgbClr val="3A4560"/>
                </a:solidFill>
                <a:latin typeface="Segoe UI"/>
              </a:rPr>
              <a:t>kerak, aks holda shifrlovchi virus uni ham shifrlaydi.</a:t>
            </a:r>
          </a:p>
        </p:txBody>
      </p:sp>
      <p:sp>
        <p:nvSpPr>
          <p:cNvPr id="39" name="Rectangle 38"/>
          <p:cNvSpPr/>
          <p:nvPr/>
        </p:nvSpPr>
        <p:spPr>
          <a:xfrm rot="2700000">
            <a:off x="841161" y="3333409"/>
            <a:ext cx="109901" cy="109901"/>
          </a:xfrm>
          <a:prstGeom prst="rect">
            <a:avLst/>
          </a:prstGeom>
          <a:solidFill>
            <a:srgbClr val="3F7D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1143000" y="3183636"/>
            <a:ext cx="10729862" cy="46837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3328"/>
              </a:lnSpc>
            </a:pPr>
            <a:r>
              <a:rPr sz="2600" b="1">
                <a:solidFill>
                  <a:srgbClr val="1B2A4A"/>
                </a:solidFill>
                <a:latin typeface="Segoe UI"/>
              </a:rPr>
              <a:t>3: </a:t>
            </a:r>
            <a:r>
              <a:rPr sz="2600" b="0">
                <a:solidFill>
                  <a:srgbClr val="1B2A4A"/>
                </a:solidFill>
                <a:latin typeface="Segoe UI"/>
              </a:rPr>
              <a:t>ma’lumotning kamida 3 ta nusxasi bo‘lsin (asl + 2 ta zaxira).</a:t>
            </a:r>
          </a:p>
        </p:txBody>
      </p:sp>
      <p:sp>
        <p:nvSpPr>
          <p:cNvPr id="41" name="Rectangle 40"/>
          <p:cNvSpPr/>
          <p:nvPr/>
        </p:nvSpPr>
        <p:spPr>
          <a:xfrm rot="2700000">
            <a:off x="841161" y="3902369"/>
            <a:ext cx="109901" cy="109901"/>
          </a:xfrm>
          <a:prstGeom prst="rect">
            <a:avLst/>
          </a:prstGeom>
          <a:solidFill>
            <a:srgbClr val="3F7D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1143000" y="3752596"/>
            <a:ext cx="10729862" cy="891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3328"/>
              </a:lnSpc>
            </a:pPr>
            <a:r>
              <a:rPr sz="2600" b="1">
                <a:solidFill>
                  <a:srgbClr val="1B2A4A"/>
                </a:solidFill>
                <a:latin typeface="Segoe UI"/>
              </a:rPr>
              <a:t>2: </a:t>
            </a:r>
            <a:r>
              <a:rPr sz="2600" b="0">
                <a:solidFill>
                  <a:srgbClr val="1B2A4A"/>
                </a:solidFill>
                <a:latin typeface="Segoe UI"/>
              </a:rPr>
              <a:t>nusxalar kamida 2 xil turdagi tashuvchida saqlansin (masalan, tashqi</a:t>
            </a:r>
            <a:br/>
            <a:r>
              <a:rPr sz="2600" b="0">
                <a:solidFill>
                  <a:srgbClr val="1B2A4A"/>
                </a:solidFill>
                <a:latin typeface="Segoe UI"/>
              </a:rPr>
              <a:t>disk va bulut).</a:t>
            </a:r>
          </a:p>
        </p:txBody>
      </p:sp>
      <p:sp>
        <p:nvSpPr>
          <p:cNvPr id="43" name="Rectangle 42"/>
          <p:cNvSpPr/>
          <p:nvPr/>
        </p:nvSpPr>
        <p:spPr>
          <a:xfrm rot="2700000">
            <a:off x="841161" y="4893985"/>
            <a:ext cx="109901" cy="109901"/>
          </a:xfrm>
          <a:prstGeom prst="rect">
            <a:avLst/>
          </a:prstGeom>
          <a:solidFill>
            <a:srgbClr val="3F7D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1143000" y="4744212"/>
            <a:ext cx="10729862" cy="891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3328"/>
              </a:lnSpc>
            </a:pPr>
            <a:r>
              <a:rPr sz="2600" b="1">
                <a:solidFill>
                  <a:srgbClr val="1B2A4A"/>
                </a:solidFill>
                <a:latin typeface="Segoe UI"/>
              </a:rPr>
              <a:t>1: </a:t>
            </a:r>
            <a:r>
              <a:rPr sz="2600" b="0">
                <a:solidFill>
                  <a:srgbClr val="1B2A4A"/>
                </a:solidFill>
                <a:latin typeface="Segoe UI"/>
              </a:rPr>
              <a:t>bitta nusxa boshqa joyda (ofisdan tashqarida yoki bulutda)</a:t>
            </a:r>
            <a:br/>
            <a:r>
              <a:rPr sz="2600" b="0">
                <a:solidFill>
                  <a:srgbClr val="1B2A4A"/>
                </a:solidFill>
                <a:latin typeface="Segoe UI"/>
              </a:rPr>
              <a:t>saqlansin.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BD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28016"/>
          </a:xfrm>
          <a:prstGeom prst="rect">
            <a:avLst/>
          </a:prstGeom>
          <a:solidFill>
            <a:srgbClr val="3F7D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 rot="2700000">
            <a:off x="183346" y="229066"/>
            <a:ext cx="90507" cy="90507"/>
          </a:xfrm>
          <a:prstGeom prst="rect">
            <a:avLst/>
          </a:prstGeom>
          <a:solidFill>
            <a:srgbClr val="3F7D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 rot="2700000">
            <a:off x="6405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 rot="2700000">
            <a:off x="1097746" y="229066"/>
            <a:ext cx="90507" cy="90507"/>
          </a:xfrm>
          <a:prstGeom prst="rect">
            <a:avLst/>
          </a:prstGeom>
          <a:solidFill>
            <a:srgbClr val="3F7D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 rot="2700000">
            <a:off x="15549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 rot="2700000">
            <a:off x="2012146" y="229066"/>
            <a:ext cx="90507" cy="90507"/>
          </a:xfrm>
          <a:prstGeom prst="rect">
            <a:avLst/>
          </a:prstGeom>
          <a:solidFill>
            <a:srgbClr val="3F7D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 rot="2700000">
            <a:off x="24693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 rot="2700000">
            <a:off x="2926546" y="229066"/>
            <a:ext cx="90507" cy="90507"/>
          </a:xfrm>
          <a:prstGeom prst="rect">
            <a:avLst/>
          </a:prstGeom>
          <a:solidFill>
            <a:srgbClr val="3F7D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 rot="2700000">
            <a:off x="33837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 rot="2700000">
            <a:off x="3840946" y="229066"/>
            <a:ext cx="90507" cy="90507"/>
          </a:xfrm>
          <a:prstGeom prst="rect">
            <a:avLst/>
          </a:prstGeom>
          <a:solidFill>
            <a:srgbClr val="3F7D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 rot="2700000">
            <a:off x="42981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 rot="2700000">
            <a:off x="4755346" y="229066"/>
            <a:ext cx="90507" cy="90507"/>
          </a:xfrm>
          <a:prstGeom prst="rect">
            <a:avLst/>
          </a:prstGeom>
          <a:solidFill>
            <a:srgbClr val="3F7D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 rot="2700000">
            <a:off x="52125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 rot="2700000">
            <a:off x="5669746" y="229066"/>
            <a:ext cx="90507" cy="90507"/>
          </a:xfrm>
          <a:prstGeom prst="rect">
            <a:avLst/>
          </a:prstGeom>
          <a:solidFill>
            <a:srgbClr val="3F7D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 rot="2700000">
            <a:off x="61269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 rot="2700000">
            <a:off x="6584146" y="229066"/>
            <a:ext cx="90507" cy="90507"/>
          </a:xfrm>
          <a:prstGeom prst="rect">
            <a:avLst/>
          </a:prstGeom>
          <a:solidFill>
            <a:srgbClr val="3F7D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 rot="2700000">
            <a:off x="70413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 rot="2700000">
            <a:off x="7498546" y="229066"/>
            <a:ext cx="90507" cy="90507"/>
          </a:xfrm>
          <a:prstGeom prst="rect">
            <a:avLst/>
          </a:prstGeom>
          <a:solidFill>
            <a:srgbClr val="3F7D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 rot="2700000">
            <a:off x="79557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 rot="2700000">
            <a:off x="8412946" y="229066"/>
            <a:ext cx="90507" cy="90507"/>
          </a:xfrm>
          <a:prstGeom prst="rect">
            <a:avLst/>
          </a:prstGeom>
          <a:solidFill>
            <a:srgbClr val="3F7D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 rot="2700000">
            <a:off x="88701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 rot="2700000">
            <a:off x="9327346" y="229066"/>
            <a:ext cx="90507" cy="90507"/>
          </a:xfrm>
          <a:prstGeom prst="rect">
            <a:avLst/>
          </a:prstGeom>
          <a:solidFill>
            <a:srgbClr val="3F7D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 rot="2700000">
            <a:off x="97845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 rot="2700000">
            <a:off x="10241746" y="229066"/>
            <a:ext cx="90507" cy="90507"/>
          </a:xfrm>
          <a:prstGeom prst="rect">
            <a:avLst/>
          </a:prstGeom>
          <a:solidFill>
            <a:srgbClr val="3F7D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 rot="2700000">
            <a:off x="106989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 rot="2700000">
            <a:off x="11156146" y="229066"/>
            <a:ext cx="90507" cy="90507"/>
          </a:xfrm>
          <a:prstGeom prst="rect">
            <a:avLst/>
          </a:prstGeom>
          <a:solidFill>
            <a:srgbClr val="3F7D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 rot="2700000">
            <a:off x="116133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 rot="2700000">
            <a:off x="12070546" y="229066"/>
            <a:ext cx="90507" cy="90507"/>
          </a:xfrm>
          <a:prstGeom prst="rect">
            <a:avLst/>
          </a:prstGeom>
          <a:solidFill>
            <a:srgbClr val="3F7D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548640" y="6291072"/>
            <a:ext cx="11094415" cy="10972"/>
          </a:xfrm>
          <a:prstGeom prst="rect">
            <a:avLst/>
          </a:prstGeom>
          <a:solidFill>
            <a:srgbClr val="D8C8A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548640" y="6400800"/>
            <a:ext cx="7607808" cy="20446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250"/>
              </a:lnSpc>
            </a:pPr>
            <a:r>
              <a:rPr sz="1000" b="0">
                <a:solidFill>
                  <a:srgbClr val="6B6457"/>
                </a:solidFill>
                <a:latin typeface="Segoe UI"/>
              </a:rPr>
              <a:t>Axborot xavfsizligi · 36-mavzu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9814255" y="6400800"/>
            <a:ext cx="1901952" cy="20446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ts val="1250"/>
              </a:lnSpc>
            </a:pPr>
            <a:r>
              <a:rPr sz="1000" b="1">
                <a:solidFill>
                  <a:srgbClr val="6B6457"/>
                </a:solidFill>
                <a:latin typeface="Segoe UI"/>
              </a:rPr>
              <a:t>9 / 11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731520" y="566928"/>
            <a:ext cx="11157801" cy="2203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375"/>
              </a:lnSpc>
            </a:pPr>
            <a:r>
              <a:rPr sz="1100" b="1">
                <a:solidFill>
                  <a:srgbClr val="3F7D4E"/>
                </a:solidFill>
                <a:latin typeface="Segoe UI"/>
              </a:rPr>
              <a:t>36-MAVZU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731520" y="859536"/>
            <a:ext cx="11157801" cy="48387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3450"/>
              </a:lnSpc>
            </a:pPr>
            <a:r>
              <a:rPr sz="3000" b="1">
                <a:solidFill>
                  <a:srgbClr val="1B2A4A"/>
                </a:solidFill>
                <a:latin typeface="Georgia"/>
              </a:rPr>
              <a:t>Asosiy atamalar</a:t>
            </a:r>
          </a:p>
        </p:txBody>
      </p:sp>
      <p:sp>
        <p:nvSpPr>
          <p:cNvPr id="36" name="Rectangle 35"/>
          <p:cNvSpPr/>
          <p:nvPr/>
        </p:nvSpPr>
        <p:spPr>
          <a:xfrm>
            <a:off x="731520" y="1389126"/>
            <a:ext cx="822960" cy="45720"/>
          </a:xfrm>
          <a:prstGeom prst="rect">
            <a:avLst/>
          </a:prstGeom>
          <a:solidFill>
            <a:srgbClr val="3F7D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Rounded Rectangle 36"/>
          <p:cNvSpPr/>
          <p:nvPr/>
        </p:nvSpPr>
        <p:spPr>
          <a:xfrm>
            <a:off x="731520" y="1645158"/>
            <a:ext cx="5204307" cy="1310894"/>
          </a:xfrm>
          <a:prstGeom prst="roundRect">
            <a:avLst>
              <a:gd name="adj" fmla="val 5580"/>
            </a:avLst>
          </a:prstGeom>
          <a:solidFill>
            <a:srgbClr val="FBF6EC"/>
          </a:solidFill>
          <a:ln w="12700">
            <a:solidFill>
              <a:srgbClr val="D8C8A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Rectangle 37"/>
          <p:cNvSpPr/>
          <p:nvPr/>
        </p:nvSpPr>
        <p:spPr>
          <a:xfrm>
            <a:off x="731520" y="1645158"/>
            <a:ext cx="73152" cy="1310894"/>
          </a:xfrm>
          <a:prstGeom prst="rect">
            <a:avLst/>
          </a:prstGeom>
          <a:solidFill>
            <a:srgbClr val="3F7D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1005840" y="1809750"/>
            <a:ext cx="4936991" cy="2940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954"/>
              </a:lnSpc>
            </a:pPr>
            <a:r>
              <a:rPr sz="1700" b="1">
                <a:solidFill>
                  <a:srgbClr val="1B2A4A"/>
                </a:solidFill>
                <a:latin typeface="Georgia"/>
              </a:rPr>
              <a:t>Asimmetrik shifrlash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1005840" y="2149475"/>
            <a:ext cx="4936991" cy="7391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820"/>
              </a:lnSpc>
            </a:pPr>
            <a:r>
              <a:rPr sz="1400" b="0">
                <a:solidFill>
                  <a:srgbClr val="3A4560"/>
                </a:solidFill>
                <a:latin typeface="Segoe UI"/>
              </a:rPr>
              <a:t>Ochiq va yopiq kalitlar juftligidan foydalaniladigan usul:</a:t>
            </a:r>
            <a:br/>
            <a:r>
              <a:rPr sz="1400" b="0">
                <a:solidFill>
                  <a:srgbClr val="3A4560"/>
                </a:solidFill>
                <a:latin typeface="Segoe UI"/>
              </a:rPr>
              <a:t>ochiq kalit bilan shifrlangan ma’lumotni faqat yopiq kalit</a:t>
            </a:r>
            <a:br/>
            <a:r>
              <a:rPr sz="1400" b="0">
                <a:solidFill>
                  <a:srgbClr val="3A4560"/>
                </a:solidFill>
                <a:latin typeface="Segoe UI"/>
              </a:rPr>
              <a:t>egasi ocha oladi.</a:t>
            </a:r>
          </a:p>
        </p:txBody>
      </p:sp>
      <p:sp>
        <p:nvSpPr>
          <p:cNvPr id="41" name="Rounded Rectangle 40"/>
          <p:cNvSpPr/>
          <p:nvPr/>
        </p:nvSpPr>
        <p:spPr>
          <a:xfrm>
            <a:off x="6255867" y="1645158"/>
            <a:ext cx="5204307" cy="1310894"/>
          </a:xfrm>
          <a:prstGeom prst="roundRect">
            <a:avLst>
              <a:gd name="adj" fmla="val 5580"/>
            </a:avLst>
          </a:prstGeom>
          <a:solidFill>
            <a:srgbClr val="FBF6EC"/>
          </a:solidFill>
          <a:ln w="12700">
            <a:solidFill>
              <a:srgbClr val="D8C8A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Rectangle 41"/>
          <p:cNvSpPr/>
          <p:nvPr/>
        </p:nvSpPr>
        <p:spPr>
          <a:xfrm>
            <a:off x="6255867" y="1645158"/>
            <a:ext cx="73152" cy="1310894"/>
          </a:xfrm>
          <a:prstGeom prst="rect">
            <a:avLst/>
          </a:prstGeom>
          <a:solidFill>
            <a:srgbClr val="3F7D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6530187" y="1809750"/>
            <a:ext cx="4936991" cy="3524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415"/>
              </a:lnSpc>
            </a:pPr>
            <a:r>
              <a:rPr sz="2100" b="1">
                <a:solidFill>
                  <a:srgbClr val="1B2A4A"/>
                </a:solidFill>
                <a:latin typeface="Georgia"/>
              </a:rPr>
              <a:t>Deshifrlash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6530187" y="2207895"/>
            <a:ext cx="4936991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340"/>
              </a:lnSpc>
            </a:pPr>
            <a:r>
              <a:rPr sz="1800" b="0">
                <a:solidFill>
                  <a:srgbClr val="3A4560"/>
                </a:solidFill>
                <a:latin typeface="Segoe UI"/>
              </a:rPr>
              <a:t>Shifrmatnni kalit yordamida qayta ochiq</a:t>
            </a:r>
            <a:br/>
            <a:r>
              <a:rPr sz="1800" b="0">
                <a:solidFill>
                  <a:srgbClr val="3A4560"/>
                </a:solidFill>
                <a:latin typeface="Segoe UI"/>
              </a:rPr>
              <a:t>matnga aylantirish.</a:t>
            </a:r>
          </a:p>
        </p:txBody>
      </p:sp>
      <p:sp>
        <p:nvSpPr>
          <p:cNvPr id="45" name="Rounded Rectangle 44"/>
          <p:cNvSpPr/>
          <p:nvPr/>
        </p:nvSpPr>
        <p:spPr>
          <a:xfrm>
            <a:off x="731520" y="3184652"/>
            <a:ext cx="5204307" cy="1310894"/>
          </a:xfrm>
          <a:prstGeom prst="roundRect">
            <a:avLst>
              <a:gd name="adj" fmla="val 5580"/>
            </a:avLst>
          </a:prstGeom>
          <a:solidFill>
            <a:srgbClr val="FBF6EC"/>
          </a:solidFill>
          <a:ln w="12700">
            <a:solidFill>
              <a:srgbClr val="D8C8A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Rectangle 45"/>
          <p:cNvSpPr/>
          <p:nvPr/>
        </p:nvSpPr>
        <p:spPr>
          <a:xfrm>
            <a:off x="731520" y="3184652"/>
            <a:ext cx="73152" cy="1310894"/>
          </a:xfrm>
          <a:prstGeom prst="rect">
            <a:avLst/>
          </a:prstGeom>
          <a:solidFill>
            <a:srgbClr val="3F7D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1005840" y="3349244"/>
            <a:ext cx="4936991" cy="32321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185"/>
              </a:lnSpc>
            </a:pPr>
            <a:r>
              <a:rPr sz="1900" b="1">
                <a:solidFill>
                  <a:srgbClr val="1B2A4A"/>
                </a:solidFill>
                <a:latin typeface="Georgia"/>
              </a:rPr>
              <a:t>Elektron raqamli imzo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1005840" y="3718179"/>
            <a:ext cx="4936991" cy="574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080"/>
              </a:lnSpc>
            </a:pPr>
            <a:r>
              <a:rPr sz="1600" b="0">
                <a:solidFill>
                  <a:srgbClr val="3A4560"/>
                </a:solidFill>
                <a:latin typeface="Segoe UI"/>
              </a:rPr>
              <a:t>Hujjat muallifini va o‘zgartirilmaganini tasdiqlovchi,</a:t>
            </a:r>
            <a:br/>
            <a:r>
              <a:rPr sz="1600" b="0">
                <a:solidFill>
                  <a:srgbClr val="3A4560"/>
                </a:solidFill>
                <a:latin typeface="Segoe UI"/>
              </a:rPr>
              <a:t>yopiq kalit yordamida yaratiladigan elektron rekvizit.</a:t>
            </a:r>
          </a:p>
        </p:txBody>
      </p:sp>
      <p:sp>
        <p:nvSpPr>
          <p:cNvPr id="49" name="Rounded Rectangle 48"/>
          <p:cNvSpPr/>
          <p:nvPr/>
        </p:nvSpPr>
        <p:spPr>
          <a:xfrm>
            <a:off x="6255867" y="3184652"/>
            <a:ext cx="5204307" cy="1310894"/>
          </a:xfrm>
          <a:prstGeom prst="roundRect">
            <a:avLst>
              <a:gd name="adj" fmla="val 5580"/>
            </a:avLst>
          </a:prstGeom>
          <a:solidFill>
            <a:srgbClr val="FBF6EC"/>
          </a:solidFill>
          <a:ln w="12700">
            <a:solidFill>
              <a:srgbClr val="D8C8A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Rectangle 49"/>
          <p:cNvSpPr/>
          <p:nvPr/>
        </p:nvSpPr>
        <p:spPr>
          <a:xfrm>
            <a:off x="6255867" y="3184652"/>
            <a:ext cx="73152" cy="1310894"/>
          </a:xfrm>
          <a:prstGeom prst="rect">
            <a:avLst/>
          </a:prstGeom>
          <a:solidFill>
            <a:srgbClr val="3F7D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TextBox 50"/>
          <p:cNvSpPr txBox="1"/>
          <p:nvPr/>
        </p:nvSpPr>
        <p:spPr>
          <a:xfrm>
            <a:off x="6530187" y="3349244"/>
            <a:ext cx="4936991" cy="3524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415"/>
              </a:lnSpc>
            </a:pPr>
            <a:r>
              <a:rPr sz="2100" b="1">
                <a:solidFill>
                  <a:srgbClr val="1B2A4A"/>
                </a:solidFill>
                <a:latin typeface="Georgia"/>
              </a:rPr>
              <a:t>Kalit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6530187" y="3747389"/>
            <a:ext cx="4936991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340"/>
              </a:lnSpc>
            </a:pPr>
            <a:r>
              <a:rPr sz="1800" b="0">
                <a:solidFill>
                  <a:srgbClr val="3A4560"/>
                </a:solidFill>
                <a:latin typeface="Segoe UI"/>
              </a:rPr>
              <a:t>Shifrlash va deshifrlash uchun ishlatiladigan</a:t>
            </a:r>
            <a:br/>
            <a:r>
              <a:rPr sz="1800" b="0">
                <a:solidFill>
                  <a:srgbClr val="3A4560"/>
                </a:solidFill>
                <a:latin typeface="Segoe UI"/>
              </a:rPr>
              <a:t>maxfiy qiymat.</a:t>
            </a:r>
          </a:p>
        </p:txBody>
      </p:sp>
      <p:sp>
        <p:nvSpPr>
          <p:cNvPr id="53" name="Rounded Rectangle 52"/>
          <p:cNvSpPr/>
          <p:nvPr/>
        </p:nvSpPr>
        <p:spPr>
          <a:xfrm>
            <a:off x="731520" y="4724146"/>
            <a:ext cx="5204307" cy="1310894"/>
          </a:xfrm>
          <a:prstGeom prst="roundRect">
            <a:avLst>
              <a:gd name="adj" fmla="val 5580"/>
            </a:avLst>
          </a:prstGeom>
          <a:solidFill>
            <a:srgbClr val="FBF6EC"/>
          </a:solidFill>
          <a:ln w="12700">
            <a:solidFill>
              <a:srgbClr val="D8C8A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Rectangle 53"/>
          <p:cNvSpPr/>
          <p:nvPr/>
        </p:nvSpPr>
        <p:spPr>
          <a:xfrm>
            <a:off x="731520" y="4724146"/>
            <a:ext cx="73152" cy="1310894"/>
          </a:xfrm>
          <a:prstGeom prst="rect">
            <a:avLst/>
          </a:prstGeom>
          <a:solidFill>
            <a:srgbClr val="3F7D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TextBox 54"/>
          <p:cNvSpPr txBox="1"/>
          <p:nvPr/>
        </p:nvSpPr>
        <p:spPr>
          <a:xfrm>
            <a:off x="1005840" y="4888738"/>
            <a:ext cx="4936991" cy="3524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415"/>
              </a:lnSpc>
            </a:pPr>
            <a:r>
              <a:rPr sz="2100" b="1">
                <a:solidFill>
                  <a:srgbClr val="1B2A4A"/>
                </a:solidFill>
                <a:latin typeface="Georgia"/>
              </a:rPr>
              <a:t>Kriptografiya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1005840" y="5286882"/>
            <a:ext cx="4936991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340"/>
              </a:lnSpc>
            </a:pPr>
            <a:r>
              <a:rPr sz="1800" b="0">
                <a:solidFill>
                  <a:srgbClr val="3A4560"/>
                </a:solidFill>
                <a:latin typeface="Segoe UI"/>
              </a:rPr>
              <a:t>Axborotni begona shaxslar o‘qiy olmaydigan</a:t>
            </a:r>
            <a:br/>
            <a:r>
              <a:rPr sz="1800" b="0">
                <a:solidFill>
                  <a:srgbClr val="3A4560"/>
                </a:solidFill>
                <a:latin typeface="Segoe UI"/>
              </a:rPr>
              <a:t>ko‘rinishga keltirish usullari haqidagi fan.</a:t>
            </a:r>
          </a:p>
        </p:txBody>
      </p:sp>
      <p:sp>
        <p:nvSpPr>
          <p:cNvPr id="57" name="Rounded Rectangle 56"/>
          <p:cNvSpPr/>
          <p:nvPr/>
        </p:nvSpPr>
        <p:spPr>
          <a:xfrm>
            <a:off x="6255867" y="4724146"/>
            <a:ext cx="5204307" cy="1310894"/>
          </a:xfrm>
          <a:prstGeom prst="roundRect">
            <a:avLst>
              <a:gd name="adj" fmla="val 5580"/>
            </a:avLst>
          </a:prstGeom>
          <a:solidFill>
            <a:srgbClr val="FBF6EC"/>
          </a:solidFill>
          <a:ln w="12700">
            <a:solidFill>
              <a:srgbClr val="D8C8A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" name="Rectangle 57"/>
          <p:cNvSpPr/>
          <p:nvPr/>
        </p:nvSpPr>
        <p:spPr>
          <a:xfrm>
            <a:off x="6255867" y="4724146"/>
            <a:ext cx="73152" cy="1310894"/>
          </a:xfrm>
          <a:prstGeom prst="rect">
            <a:avLst/>
          </a:prstGeom>
          <a:solidFill>
            <a:srgbClr val="3F7D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" name="TextBox 58"/>
          <p:cNvSpPr txBox="1"/>
          <p:nvPr/>
        </p:nvSpPr>
        <p:spPr>
          <a:xfrm>
            <a:off x="6530187" y="4888738"/>
            <a:ext cx="4936991" cy="32321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185"/>
              </a:lnSpc>
            </a:pPr>
            <a:r>
              <a:rPr sz="1900" b="1">
                <a:solidFill>
                  <a:srgbClr val="1B2A4A"/>
                </a:solidFill>
                <a:latin typeface="Georgia"/>
              </a:rPr>
              <a:t>Shifrlash</a:t>
            </a:r>
          </a:p>
        </p:txBody>
      </p:sp>
      <p:sp>
        <p:nvSpPr>
          <p:cNvPr id="60" name="TextBox 59"/>
          <p:cNvSpPr txBox="1"/>
          <p:nvPr/>
        </p:nvSpPr>
        <p:spPr>
          <a:xfrm>
            <a:off x="6530187" y="5257673"/>
            <a:ext cx="4936991" cy="574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080"/>
              </a:lnSpc>
            </a:pPr>
            <a:r>
              <a:rPr sz="1600" b="0">
                <a:solidFill>
                  <a:srgbClr val="3A4560"/>
                </a:solidFill>
                <a:latin typeface="Segoe UI"/>
              </a:rPr>
              <a:t>Ochiq matnni maxsus algoritm va kalit yordamida</a:t>
            </a:r>
            <a:br/>
            <a:r>
              <a:rPr sz="1600" b="0">
                <a:solidFill>
                  <a:srgbClr val="3A4560"/>
                </a:solidFill>
                <a:latin typeface="Segoe UI"/>
              </a:rPr>
              <a:t>tushunarsiz shifrmatnga aylantirish jarayoni.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BD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28016"/>
          </a:xfrm>
          <a:prstGeom prst="rect">
            <a:avLst/>
          </a:prstGeom>
          <a:solidFill>
            <a:srgbClr val="3F7D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 rot="2700000">
            <a:off x="183346" y="229066"/>
            <a:ext cx="90507" cy="90507"/>
          </a:xfrm>
          <a:prstGeom prst="rect">
            <a:avLst/>
          </a:prstGeom>
          <a:solidFill>
            <a:srgbClr val="3F7D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 rot="2700000">
            <a:off x="6405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 rot="2700000">
            <a:off x="1097746" y="229066"/>
            <a:ext cx="90507" cy="90507"/>
          </a:xfrm>
          <a:prstGeom prst="rect">
            <a:avLst/>
          </a:prstGeom>
          <a:solidFill>
            <a:srgbClr val="3F7D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 rot="2700000">
            <a:off x="15549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 rot="2700000">
            <a:off x="2012146" y="229066"/>
            <a:ext cx="90507" cy="90507"/>
          </a:xfrm>
          <a:prstGeom prst="rect">
            <a:avLst/>
          </a:prstGeom>
          <a:solidFill>
            <a:srgbClr val="3F7D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 rot="2700000">
            <a:off x="24693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 rot="2700000">
            <a:off x="2926546" y="229066"/>
            <a:ext cx="90507" cy="90507"/>
          </a:xfrm>
          <a:prstGeom prst="rect">
            <a:avLst/>
          </a:prstGeom>
          <a:solidFill>
            <a:srgbClr val="3F7D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 rot="2700000">
            <a:off x="33837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 rot="2700000">
            <a:off x="3840946" y="229066"/>
            <a:ext cx="90507" cy="90507"/>
          </a:xfrm>
          <a:prstGeom prst="rect">
            <a:avLst/>
          </a:prstGeom>
          <a:solidFill>
            <a:srgbClr val="3F7D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 rot="2700000">
            <a:off x="42981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 rot="2700000">
            <a:off x="4755346" y="229066"/>
            <a:ext cx="90507" cy="90507"/>
          </a:xfrm>
          <a:prstGeom prst="rect">
            <a:avLst/>
          </a:prstGeom>
          <a:solidFill>
            <a:srgbClr val="3F7D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 rot="2700000">
            <a:off x="52125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 rot="2700000">
            <a:off x="5669746" y="229066"/>
            <a:ext cx="90507" cy="90507"/>
          </a:xfrm>
          <a:prstGeom prst="rect">
            <a:avLst/>
          </a:prstGeom>
          <a:solidFill>
            <a:srgbClr val="3F7D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 rot="2700000">
            <a:off x="61269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 rot="2700000">
            <a:off x="6584146" y="229066"/>
            <a:ext cx="90507" cy="90507"/>
          </a:xfrm>
          <a:prstGeom prst="rect">
            <a:avLst/>
          </a:prstGeom>
          <a:solidFill>
            <a:srgbClr val="3F7D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 rot="2700000">
            <a:off x="70413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 rot="2700000">
            <a:off x="7498546" y="229066"/>
            <a:ext cx="90507" cy="90507"/>
          </a:xfrm>
          <a:prstGeom prst="rect">
            <a:avLst/>
          </a:prstGeom>
          <a:solidFill>
            <a:srgbClr val="3F7D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 rot="2700000">
            <a:off x="79557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 rot="2700000">
            <a:off x="8412946" y="229066"/>
            <a:ext cx="90507" cy="90507"/>
          </a:xfrm>
          <a:prstGeom prst="rect">
            <a:avLst/>
          </a:prstGeom>
          <a:solidFill>
            <a:srgbClr val="3F7D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 rot="2700000">
            <a:off x="88701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 rot="2700000">
            <a:off x="9327346" y="229066"/>
            <a:ext cx="90507" cy="90507"/>
          </a:xfrm>
          <a:prstGeom prst="rect">
            <a:avLst/>
          </a:prstGeom>
          <a:solidFill>
            <a:srgbClr val="3F7D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 rot="2700000">
            <a:off x="97845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 rot="2700000">
            <a:off x="10241746" y="229066"/>
            <a:ext cx="90507" cy="90507"/>
          </a:xfrm>
          <a:prstGeom prst="rect">
            <a:avLst/>
          </a:prstGeom>
          <a:solidFill>
            <a:srgbClr val="3F7D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 rot="2700000">
            <a:off x="106989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 rot="2700000">
            <a:off x="11156146" y="229066"/>
            <a:ext cx="90507" cy="90507"/>
          </a:xfrm>
          <a:prstGeom prst="rect">
            <a:avLst/>
          </a:prstGeom>
          <a:solidFill>
            <a:srgbClr val="3F7D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 rot="2700000">
            <a:off x="116133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 rot="2700000">
            <a:off x="12070546" y="229066"/>
            <a:ext cx="90507" cy="90507"/>
          </a:xfrm>
          <a:prstGeom prst="rect">
            <a:avLst/>
          </a:prstGeom>
          <a:solidFill>
            <a:srgbClr val="3F7D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548640" y="6291072"/>
            <a:ext cx="11094415" cy="10972"/>
          </a:xfrm>
          <a:prstGeom prst="rect">
            <a:avLst/>
          </a:prstGeom>
          <a:solidFill>
            <a:srgbClr val="D8C8A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548640" y="6400800"/>
            <a:ext cx="7607808" cy="20446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250"/>
              </a:lnSpc>
            </a:pPr>
            <a:r>
              <a:rPr sz="1000" b="0">
                <a:solidFill>
                  <a:srgbClr val="6B6457"/>
                </a:solidFill>
                <a:latin typeface="Segoe UI"/>
              </a:rPr>
              <a:t>Axborot xavfsizligi · 36-mavzu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9814255" y="6400800"/>
            <a:ext cx="1901952" cy="20446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ts val="1250"/>
              </a:lnSpc>
            </a:pPr>
            <a:r>
              <a:rPr sz="1000" b="1">
                <a:solidFill>
                  <a:srgbClr val="6B6457"/>
                </a:solidFill>
                <a:latin typeface="Segoe UI"/>
              </a:rPr>
              <a:t>10 / 11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731520" y="566928"/>
            <a:ext cx="11157801" cy="2203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375"/>
              </a:lnSpc>
            </a:pPr>
            <a:r>
              <a:rPr sz="1100" b="1">
                <a:solidFill>
                  <a:srgbClr val="3F7D4E"/>
                </a:solidFill>
                <a:latin typeface="Segoe UI"/>
              </a:rPr>
              <a:t>36-MAVZU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731520" y="859536"/>
            <a:ext cx="11157801" cy="48387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3450"/>
              </a:lnSpc>
            </a:pPr>
            <a:r>
              <a:rPr sz="3000" b="1">
                <a:solidFill>
                  <a:srgbClr val="1B2A4A"/>
                </a:solidFill>
                <a:latin typeface="Georgia"/>
              </a:rPr>
              <a:t>Mustahkamlash uchun savollar</a:t>
            </a:r>
          </a:p>
        </p:txBody>
      </p:sp>
      <p:sp>
        <p:nvSpPr>
          <p:cNvPr id="36" name="Rectangle 35"/>
          <p:cNvSpPr/>
          <p:nvPr/>
        </p:nvSpPr>
        <p:spPr>
          <a:xfrm>
            <a:off x="731520" y="1389126"/>
            <a:ext cx="822960" cy="45720"/>
          </a:xfrm>
          <a:prstGeom prst="rect">
            <a:avLst/>
          </a:prstGeom>
          <a:solidFill>
            <a:srgbClr val="3F7D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Rectangle 36"/>
          <p:cNvSpPr/>
          <p:nvPr/>
        </p:nvSpPr>
        <p:spPr>
          <a:xfrm>
            <a:off x="845283" y="1720821"/>
            <a:ext cx="284537" cy="284537"/>
          </a:xfrm>
          <a:prstGeom prst="rect">
            <a:avLst/>
          </a:prstGeom>
          <a:solidFill>
            <a:srgbClr val="3F7D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Rectangle 37"/>
          <p:cNvSpPr/>
          <p:nvPr/>
        </p:nvSpPr>
        <p:spPr>
          <a:xfrm rot="2700000">
            <a:off x="845283" y="1720821"/>
            <a:ext cx="284537" cy="284537"/>
          </a:xfrm>
          <a:prstGeom prst="rect">
            <a:avLst/>
          </a:prstGeom>
          <a:solidFill>
            <a:srgbClr val="3F7D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786384" y="1753362"/>
            <a:ext cx="418429" cy="1981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ts val="1200"/>
              </a:lnSpc>
            </a:pPr>
            <a:r>
              <a:rPr sz="1200" b="1">
                <a:solidFill>
                  <a:srgbClr val="F4EBDD"/>
                </a:solidFill>
                <a:latin typeface="Segoe UI"/>
              </a:rPr>
              <a:t>1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1417320" y="1645158"/>
            <a:ext cx="10206825" cy="4749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3380"/>
              </a:lnSpc>
            </a:pPr>
            <a:r>
              <a:rPr sz="2600" b="0">
                <a:solidFill>
                  <a:srgbClr val="1B2A4A"/>
                </a:solidFill>
                <a:latin typeface="Segoe UI"/>
              </a:rPr>
              <a:t>Shifrlash va deshifrlash nima?</a:t>
            </a:r>
          </a:p>
        </p:txBody>
      </p:sp>
      <p:sp>
        <p:nvSpPr>
          <p:cNvPr id="41" name="Rectangle 40"/>
          <p:cNvSpPr/>
          <p:nvPr/>
        </p:nvSpPr>
        <p:spPr>
          <a:xfrm>
            <a:off x="845283" y="2332961"/>
            <a:ext cx="284537" cy="284537"/>
          </a:xfrm>
          <a:prstGeom prst="rect">
            <a:avLst/>
          </a:prstGeom>
          <a:solidFill>
            <a:srgbClr val="3F7D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Rectangle 41"/>
          <p:cNvSpPr/>
          <p:nvPr/>
        </p:nvSpPr>
        <p:spPr>
          <a:xfrm rot="2700000">
            <a:off x="845283" y="2332961"/>
            <a:ext cx="284537" cy="284537"/>
          </a:xfrm>
          <a:prstGeom prst="rect">
            <a:avLst/>
          </a:prstGeom>
          <a:solidFill>
            <a:srgbClr val="3F7D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786384" y="2365502"/>
            <a:ext cx="418429" cy="1981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ts val="1200"/>
              </a:lnSpc>
            </a:pPr>
            <a:r>
              <a:rPr sz="1200" b="1">
                <a:solidFill>
                  <a:srgbClr val="F4EBDD"/>
                </a:solidFill>
                <a:latin typeface="Segoe UI"/>
              </a:rPr>
              <a:t>2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1417320" y="2257298"/>
            <a:ext cx="10206825" cy="4749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3380"/>
              </a:lnSpc>
            </a:pPr>
            <a:r>
              <a:rPr sz="2600" b="0">
                <a:solidFill>
                  <a:srgbClr val="1B2A4A"/>
                </a:solidFill>
                <a:latin typeface="Segoe UI"/>
              </a:rPr>
              <a:t>Sezar shifri qanday ishlaydi va nima uchun ishonchsiz?</a:t>
            </a:r>
          </a:p>
        </p:txBody>
      </p:sp>
      <p:sp>
        <p:nvSpPr>
          <p:cNvPr id="45" name="Rectangle 44"/>
          <p:cNvSpPr/>
          <p:nvPr/>
        </p:nvSpPr>
        <p:spPr>
          <a:xfrm>
            <a:off x="845283" y="2945101"/>
            <a:ext cx="284537" cy="284537"/>
          </a:xfrm>
          <a:prstGeom prst="rect">
            <a:avLst/>
          </a:prstGeom>
          <a:solidFill>
            <a:srgbClr val="3F7D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Rectangle 45"/>
          <p:cNvSpPr/>
          <p:nvPr/>
        </p:nvSpPr>
        <p:spPr>
          <a:xfrm rot="2700000">
            <a:off x="845283" y="2945101"/>
            <a:ext cx="284537" cy="284537"/>
          </a:xfrm>
          <a:prstGeom prst="rect">
            <a:avLst/>
          </a:prstGeom>
          <a:solidFill>
            <a:srgbClr val="3F7D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786384" y="2977642"/>
            <a:ext cx="418429" cy="1981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ts val="1200"/>
              </a:lnSpc>
            </a:pPr>
            <a:r>
              <a:rPr sz="1200" b="1">
                <a:solidFill>
                  <a:srgbClr val="F4EBDD"/>
                </a:solidFill>
                <a:latin typeface="Segoe UI"/>
              </a:rPr>
              <a:t>3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1417320" y="2869438"/>
            <a:ext cx="10206825" cy="4749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3380"/>
              </a:lnSpc>
            </a:pPr>
            <a:r>
              <a:rPr sz="2600" b="0">
                <a:solidFill>
                  <a:srgbClr val="1B2A4A"/>
                </a:solidFill>
                <a:latin typeface="Segoe UI"/>
              </a:rPr>
              <a:t>Simmetrik va asimmetrik shifrlashning farqi nimada?</a:t>
            </a:r>
          </a:p>
        </p:txBody>
      </p:sp>
      <p:sp>
        <p:nvSpPr>
          <p:cNvPr id="49" name="Rectangle 48"/>
          <p:cNvSpPr/>
          <p:nvPr/>
        </p:nvSpPr>
        <p:spPr>
          <a:xfrm>
            <a:off x="845283" y="3557241"/>
            <a:ext cx="284537" cy="284537"/>
          </a:xfrm>
          <a:prstGeom prst="rect">
            <a:avLst/>
          </a:prstGeom>
          <a:solidFill>
            <a:srgbClr val="3F7D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Rectangle 49"/>
          <p:cNvSpPr/>
          <p:nvPr/>
        </p:nvSpPr>
        <p:spPr>
          <a:xfrm rot="2700000">
            <a:off x="845283" y="3557241"/>
            <a:ext cx="284537" cy="284537"/>
          </a:xfrm>
          <a:prstGeom prst="rect">
            <a:avLst/>
          </a:prstGeom>
          <a:solidFill>
            <a:srgbClr val="3F7D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TextBox 50"/>
          <p:cNvSpPr txBox="1"/>
          <p:nvPr/>
        </p:nvSpPr>
        <p:spPr>
          <a:xfrm>
            <a:off x="786384" y="3589782"/>
            <a:ext cx="418429" cy="1981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ts val="1200"/>
              </a:lnSpc>
            </a:pPr>
            <a:r>
              <a:rPr sz="1200" b="1">
                <a:solidFill>
                  <a:srgbClr val="F4EBDD"/>
                </a:solidFill>
                <a:latin typeface="Segoe UI"/>
              </a:rPr>
              <a:t>4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1417320" y="3481578"/>
            <a:ext cx="10206825" cy="4749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3380"/>
              </a:lnSpc>
            </a:pPr>
            <a:r>
              <a:rPr sz="2600" b="0">
                <a:solidFill>
                  <a:srgbClr val="1B2A4A"/>
                </a:solidFill>
                <a:latin typeface="Segoe UI"/>
              </a:rPr>
              <a:t>Zaxiralashning qanday turlari bor?</a:t>
            </a:r>
          </a:p>
        </p:txBody>
      </p:sp>
      <p:sp>
        <p:nvSpPr>
          <p:cNvPr id="53" name="Rectangle 52"/>
          <p:cNvSpPr/>
          <p:nvPr/>
        </p:nvSpPr>
        <p:spPr>
          <a:xfrm>
            <a:off x="845283" y="4169381"/>
            <a:ext cx="284537" cy="284537"/>
          </a:xfrm>
          <a:prstGeom prst="rect">
            <a:avLst/>
          </a:prstGeom>
          <a:solidFill>
            <a:srgbClr val="3F7D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Rectangle 53"/>
          <p:cNvSpPr/>
          <p:nvPr/>
        </p:nvSpPr>
        <p:spPr>
          <a:xfrm rot="2700000">
            <a:off x="845283" y="4169381"/>
            <a:ext cx="284537" cy="284537"/>
          </a:xfrm>
          <a:prstGeom prst="rect">
            <a:avLst/>
          </a:prstGeom>
          <a:solidFill>
            <a:srgbClr val="3F7D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TextBox 54"/>
          <p:cNvSpPr txBox="1"/>
          <p:nvPr/>
        </p:nvSpPr>
        <p:spPr>
          <a:xfrm>
            <a:off x="786384" y="4201922"/>
            <a:ext cx="418429" cy="1981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ts val="1200"/>
              </a:lnSpc>
            </a:pPr>
            <a:r>
              <a:rPr sz="1200" b="1">
                <a:solidFill>
                  <a:srgbClr val="F4EBDD"/>
                </a:solidFill>
                <a:latin typeface="Segoe UI"/>
              </a:rPr>
              <a:t>5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1417320" y="4093718"/>
            <a:ext cx="10206825" cy="4749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3380"/>
              </a:lnSpc>
            </a:pPr>
            <a:r>
              <a:rPr sz="2600" b="0">
                <a:solidFill>
                  <a:srgbClr val="1B2A4A"/>
                </a:solidFill>
                <a:latin typeface="Segoe UI"/>
              </a:rPr>
              <a:t>«3-2-1» qoidasini tushuntiring.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BD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28016"/>
          </a:xfrm>
          <a:prstGeom prst="rect">
            <a:avLst/>
          </a:prstGeom>
          <a:solidFill>
            <a:srgbClr val="3F7D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 rot="2700000">
            <a:off x="183346" y="229066"/>
            <a:ext cx="90507" cy="90507"/>
          </a:xfrm>
          <a:prstGeom prst="rect">
            <a:avLst/>
          </a:prstGeom>
          <a:solidFill>
            <a:srgbClr val="3F7D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 rot="2700000">
            <a:off x="6405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 rot="2700000">
            <a:off x="1097746" y="229066"/>
            <a:ext cx="90507" cy="90507"/>
          </a:xfrm>
          <a:prstGeom prst="rect">
            <a:avLst/>
          </a:prstGeom>
          <a:solidFill>
            <a:srgbClr val="3F7D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 rot="2700000">
            <a:off x="15549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 rot="2700000">
            <a:off x="2012146" y="229066"/>
            <a:ext cx="90507" cy="90507"/>
          </a:xfrm>
          <a:prstGeom prst="rect">
            <a:avLst/>
          </a:prstGeom>
          <a:solidFill>
            <a:srgbClr val="3F7D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 rot="2700000">
            <a:off x="24693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 rot="2700000">
            <a:off x="2926546" y="229066"/>
            <a:ext cx="90507" cy="90507"/>
          </a:xfrm>
          <a:prstGeom prst="rect">
            <a:avLst/>
          </a:prstGeom>
          <a:solidFill>
            <a:srgbClr val="3F7D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 rot="2700000">
            <a:off x="33837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 rot="2700000">
            <a:off x="3840946" y="229066"/>
            <a:ext cx="90507" cy="90507"/>
          </a:xfrm>
          <a:prstGeom prst="rect">
            <a:avLst/>
          </a:prstGeom>
          <a:solidFill>
            <a:srgbClr val="3F7D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 rot="2700000">
            <a:off x="42981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 rot="2700000">
            <a:off x="4755346" y="229066"/>
            <a:ext cx="90507" cy="90507"/>
          </a:xfrm>
          <a:prstGeom prst="rect">
            <a:avLst/>
          </a:prstGeom>
          <a:solidFill>
            <a:srgbClr val="3F7D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 rot="2700000">
            <a:off x="52125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 rot="2700000">
            <a:off x="5669746" y="229066"/>
            <a:ext cx="90507" cy="90507"/>
          </a:xfrm>
          <a:prstGeom prst="rect">
            <a:avLst/>
          </a:prstGeom>
          <a:solidFill>
            <a:srgbClr val="3F7D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 rot="2700000">
            <a:off x="61269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 rot="2700000">
            <a:off x="6584146" y="229066"/>
            <a:ext cx="90507" cy="90507"/>
          </a:xfrm>
          <a:prstGeom prst="rect">
            <a:avLst/>
          </a:prstGeom>
          <a:solidFill>
            <a:srgbClr val="3F7D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 rot="2700000">
            <a:off x="70413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 rot="2700000">
            <a:off x="7498546" y="229066"/>
            <a:ext cx="90507" cy="90507"/>
          </a:xfrm>
          <a:prstGeom prst="rect">
            <a:avLst/>
          </a:prstGeom>
          <a:solidFill>
            <a:srgbClr val="3F7D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 rot="2700000">
            <a:off x="79557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 rot="2700000">
            <a:off x="8412946" y="229066"/>
            <a:ext cx="90507" cy="90507"/>
          </a:xfrm>
          <a:prstGeom prst="rect">
            <a:avLst/>
          </a:prstGeom>
          <a:solidFill>
            <a:srgbClr val="3F7D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 rot="2700000">
            <a:off x="88701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 rot="2700000">
            <a:off x="9327346" y="229066"/>
            <a:ext cx="90507" cy="90507"/>
          </a:xfrm>
          <a:prstGeom prst="rect">
            <a:avLst/>
          </a:prstGeom>
          <a:solidFill>
            <a:srgbClr val="3F7D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 rot="2700000">
            <a:off x="97845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 rot="2700000">
            <a:off x="10241746" y="229066"/>
            <a:ext cx="90507" cy="90507"/>
          </a:xfrm>
          <a:prstGeom prst="rect">
            <a:avLst/>
          </a:prstGeom>
          <a:solidFill>
            <a:srgbClr val="3F7D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 rot="2700000">
            <a:off x="106989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 rot="2700000">
            <a:off x="11156146" y="229066"/>
            <a:ext cx="90507" cy="90507"/>
          </a:xfrm>
          <a:prstGeom prst="rect">
            <a:avLst/>
          </a:prstGeom>
          <a:solidFill>
            <a:srgbClr val="3F7D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 rot="2700000">
            <a:off x="116133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 rot="2700000">
            <a:off x="12070546" y="229066"/>
            <a:ext cx="90507" cy="90507"/>
          </a:xfrm>
          <a:prstGeom prst="rect">
            <a:avLst/>
          </a:prstGeom>
          <a:solidFill>
            <a:srgbClr val="3F7D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548640" y="6291072"/>
            <a:ext cx="11094415" cy="10972"/>
          </a:xfrm>
          <a:prstGeom prst="rect">
            <a:avLst/>
          </a:prstGeom>
          <a:solidFill>
            <a:srgbClr val="D8C8A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548640" y="6400800"/>
            <a:ext cx="7607808" cy="20446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250"/>
              </a:lnSpc>
            </a:pPr>
            <a:r>
              <a:rPr sz="1000" b="0">
                <a:solidFill>
                  <a:srgbClr val="6B6457"/>
                </a:solidFill>
                <a:latin typeface="Segoe UI"/>
              </a:rPr>
              <a:t>Axborot xavfsizligi · 36-mavzu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9814255" y="6400800"/>
            <a:ext cx="1901952" cy="20446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ts val="1250"/>
              </a:lnSpc>
            </a:pPr>
            <a:r>
              <a:rPr sz="1000" b="1">
                <a:solidFill>
                  <a:srgbClr val="6B6457"/>
                </a:solidFill>
                <a:latin typeface="Segoe UI"/>
              </a:rPr>
              <a:t>11 / 11</a:t>
            </a:r>
          </a:p>
        </p:txBody>
      </p:sp>
      <p:sp>
        <p:nvSpPr>
          <p:cNvPr id="34" name="Rectangle 33"/>
          <p:cNvSpPr/>
          <p:nvPr/>
        </p:nvSpPr>
        <p:spPr>
          <a:xfrm>
            <a:off x="5481505" y="1625937"/>
            <a:ext cx="1228684" cy="1228684"/>
          </a:xfrm>
          <a:prstGeom prst="rect">
            <a:avLst/>
          </a:prstGeom>
          <a:solidFill>
            <a:srgbClr val="3F7D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Rectangle 34"/>
          <p:cNvSpPr/>
          <p:nvPr/>
        </p:nvSpPr>
        <p:spPr>
          <a:xfrm rot="2700000">
            <a:off x="5481505" y="1625937"/>
            <a:ext cx="1228684" cy="1228684"/>
          </a:xfrm>
          <a:prstGeom prst="rect">
            <a:avLst/>
          </a:prstGeom>
          <a:solidFill>
            <a:srgbClr val="3F7D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Rectangle 35"/>
          <p:cNvSpPr/>
          <p:nvPr/>
        </p:nvSpPr>
        <p:spPr>
          <a:xfrm>
            <a:off x="5740175" y="1884608"/>
            <a:ext cx="711343" cy="711343"/>
          </a:xfrm>
          <a:prstGeom prst="rect">
            <a:avLst/>
          </a:prstGeom>
          <a:solidFill>
            <a:srgbClr val="F4EBD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Rectangle 36"/>
          <p:cNvSpPr/>
          <p:nvPr/>
        </p:nvSpPr>
        <p:spPr>
          <a:xfrm rot="2700000">
            <a:off x="5740175" y="1884608"/>
            <a:ext cx="711343" cy="711343"/>
          </a:xfrm>
          <a:prstGeom prst="rect">
            <a:avLst/>
          </a:prstGeom>
          <a:solidFill>
            <a:srgbClr val="F4EBD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731520" y="3429000"/>
            <a:ext cx="11157801" cy="6807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ts val="5000"/>
              </a:lnSpc>
            </a:pPr>
            <a:r>
              <a:rPr sz="4000" b="1">
                <a:solidFill>
                  <a:srgbClr val="1B2A4A"/>
                </a:solidFill>
                <a:latin typeface="Georgia"/>
              </a:rPr>
              <a:t>E’tiboringiz uchun rahmat!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731520" y="4251960"/>
            <a:ext cx="11157801" cy="3632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ts val="2500"/>
              </a:lnSpc>
            </a:pPr>
            <a:r>
              <a:rPr sz="2000" b="0">
                <a:solidFill>
                  <a:srgbClr val="3A4560"/>
                </a:solidFill>
                <a:latin typeface="Segoe UI"/>
              </a:rPr>
              <a:t>Savollaringiz bo‘lsa, marhamat.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731520" y="4892040"/>
            <a:ext cx="11157801" cy="2997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ts val="2000"/>
              </a:lnSpc>
            </a:pPr>
            <a:r>
              <a:rPr sz="1600" b="1">
                <a:solidFill>
                  <a:srgbClr val="3F7D4E"/>
                </a:solidFill>
                <a:latin typeface="Segoe UI"/>
              </a:rPr>
              <a:t>Oydin Tashtemirova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36-mavzu. Ma’lumotlarni shifrlash va zaxiralash asoslari</dc:title>
  <dc:subject/>
  <dc:creator>Oydin Tashtemirova</dc:creator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