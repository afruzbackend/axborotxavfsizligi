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10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2F68B8"/>
                </a:solidFill>
                <a:latin typeface="Georgia"/>
              </a:rPr>
              <a:t>40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F68B8"/>
                </a:solidFill>
                <a:latin typeface="Segoe UI"/>
              </a:rPr>
              <a:t>AXBOROT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Axborot xavfsizligiga oid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qonunchilik asoslari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40-MAVZU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O‘zbekistonning axborot sohasidagi asosiy qonunlari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Kiberxavfsizlik to‘g‘risidagi qonun va vakolatli organlar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Axborot texnologiyalari sohasidagi huquqbuzarliklar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uchun javobgarlik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40-MAVZU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F68B8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O‘zbekistonda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axborot xavfsizligi sohasini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tartibga soluvchi asosiy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qonunlar, vakolatli organlar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huquqbuzarliklar uchun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javobgarlik turlarini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tushuntirish.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asosiy qonunlarni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ularning maqsadini sanaydi,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kiberxavfsizlik sohasidagi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vakolatli organlarni biladi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kiberjinoyatlar uchun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javobgarlik turlarini izohlaydi.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1-REJA · O‘ZBEKISTONNING AXBOROT SOHASIDAGI ASOSIY QONUNLARI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qonunlar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Qonunlarning rasmiy matni qonunchilik ma’lumotlari milliy bazasi — lex.uz saytida joylashgan.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Qonunlarga o‘zgartirishlar kiritilishi mumkin, shuning uchun doim amaldagi tahriri o‘qiladi.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3" cy="3097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9937"/>
                <a:gridCol w="2503352"/>
                <a:gridCol w="4005364"/>
              </a:tblGrid>
              <a:tr h="40513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4EBDD"/>
                          </a:solidFill>
                          <a:latin typeface="Segoe UI"/>
                        </a:rPr>
                        <a:t>Qonun</a:t>
                      </a:r>
                    </a:p>
                  </a:txBody>
                  <a:tcPr marL="109728" marR="109728" marT="73152" marB="73152">
                    <a:solidFill>
                      <a:srgbClr val="2F68B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4EBDD"/>
                          </a:solidFill>
                          <a:latin typeface="Segoe UI"/>
                        </a:rPr>
                        <a:t>Qabul qilingan</a:t>
                      </a:r>
                    </a:p>
                  </a:txBody>
                  <a:tcPr marL="109728" marR="109728" marT="73152" marB="73152">
                    <a:solidFill>
                      <a:srgbClr val="2F68B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4EBDD"/>
                          </a:solidFill>
                          <a:latin typeface="Segoe UI"/>
                        </a:rPr>
                        <a:t>Tartibga soladigan soha</a:t>
                      </a:r>
                    </a:p>
                  </a:txBody>
                  <a:tcPr marL="109728" marR="109728" marT="73152" marB="73152">
                    <a:solidFill>
                      <a:srgbClr val="2F68B8"/>
                    </a:solidFill>
                  </a:tcPr>
                </a:tc>
              </a:tr>
              <a:tr h="6273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A"/>
                          </a:solidFill>
                          <a:latin typeface="Segoe UI"/>
                        </a:rPr>
                        <a:t>«Axborotlashtirish to‘g‘risida»gi Qonun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A"/>
                          </a:solidFill>
                          <a:latin typeface="Segoe UI"/>
                        </a:rPr>
                        <a:t>2003-yil, 11-dekabr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A"/>
                          </a:solidFill>
                          <a:latin typeface="Segoe UI"/>
                        </a:rPr>
                        <a:t>Axborot resurslari va tizimlari, axborotni himoya qilish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6273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A"/>
                          </a:solidFill>
                          <a:latin typeface="Segoe UI"/>
                        </a:rPr>
                        <a:t>«Mualliflik huquqi va turdosh huquqlar to‘g‘risida»gi Qonun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A"/>
                          </a:solidFill>
                          <a:latin typeface="Segoe UI"/>
                        </a:rPr>
                        <a:t>2006-yil, 20-iyul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A"/>
                          </a:solidFill>
                          <a:latin typeface="Segoe UI"/>
                        </a:rPr>
                        <a:t>Asarlar, jumladan kompyuter dasturlari mualliflik huquqi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62738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A"/>
                          </a:solidFill>
                          <a:latin typeface="Segoe UI"/>
                        </a:rPr>
                        <a:t>«Elektron raqamli imzo to‘g‘risida»gi Qonun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A"/>
                          </a:solidFill>
                          <a:latin typeface="Segoe UI"/>
                        </a:rPr>
                        <a:t>2003-yil (yangi tahriri — 2022-yil)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A"/>
                          </a:solidFill>
                          <a:latin typeface="Segoe UI"/>
                        </a:rPr>
                        <a:t>Elektron hujjatlar va raqamli imzo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0513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A"/>
                          </a:solidFill>
                          <a:latin typeface="Segoe UI"/>
                        </a:rPr>
                        <a:t>«Shaxsga doir ma’lumotlar to‘g‘risida»gi Qonun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A"/>
                          </a:solidFill>
                          <a:latin typeface="Segoe UI"/>
                        </a:rPr>
                        <a:t>2019-yil, 2-iyul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A"/>
                          </a:solidFill>
                          <a:latin typeface="Segoe UI"/>
                        </a:rPr>
                        <a:t>Shaxsiy ma’lumotlarni yig‘ish va himoya qilish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0513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A"/>
                          </a:solidFill>
                          <a:latin typeface="Segoe UI"/>
                        </a:rPr>
                        <a:t>«Kiberxavfsizlik to‘g‘risida»gi Qonun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A"/>
                          </a:solidFill>
                          <a:latin typeface="Segoe UI"/>
                        </a:rPr>
                        <a:t>2022-yil, 15-aprel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B2A4A"/>
                          </a:solidFill>
                          <a:latin typeface="Segoe UI"/>
                        </a:rPr>
                        <a:t>Kibermakonda shaxs, jamiyat va davlat himoyasi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2-REJA · KIBERXAVFSIZLIK TO‘G‘RISIDAGI QONUN VA VAKOLATLI ORGANLAR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Kiberxavfsizlik to‘g‘risidagi qonun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2123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184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0"/>
              </a:lnSpc>
            </a:pPr>
            <a:r>
              <a:rPr sz="2300" b="0">
                <a:solidFill>
                  <a:srgbClr val="3A4560"/>
                </a:solidFill>
                <a:latin typeface="Segoe UI"/>
              </a:rPr>
              <a:t>Qonun kiberxavfsizlik sohasidagi asosiy tushunchalar, davlat organlarining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vakolatlari, muhim axborot infratuzilmasi obyektlarini himoya qilish va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kiberhodisalarga javob berish tartibini belgilaydi.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103793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985516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Kiberhodisa: </a:t>
            </a:r>
            <a:r>
              <a:rPr sz="2200" b="0">
                <a:solidFill>
                  <a:srgbClr val="1B2A4A"/>
                </a:solidFill>
                <a:latin typeface="Segoe UI"/>
              </a:rPr>
              <a:t>axborot tizimlari ishining buzilishiga yoki ulardagi axborotning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maxfiyligi, yaxlitligi va foydalanuvchanligi buzilishiga olib kelgan voqea.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965361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847084"/>
            <a:ext cx="10729862" cy="1118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Muhim axborot infratuzilmasi: </a:t>
            </a:r>
            <a:r>
              <a:rPr sz="2200" b="0">
                <a:solidFill>
                  <a:srgbClr val="1B2A4A"/>
                </a:solidFill>
                <a:latin typeface="Segoe UI"/>
              </a:rPr>
              <a:t>ishdan chiqishi davlat boshqaruvi, mudofaa,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iqtisodiyot yoki aholi hayotiga jiddiy zarar yetkazishi mumkin bo‘lgan axborot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tizimlari (energetika…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5184561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5066284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Kiberxavfsizlik subyekti: </a:t>
            </a:r>
            <a:r>
              <a:rPr sz="2200" b="0">
                <a:solidFill>
                  <a:srgbClr val="1B2A4A"/>
                </a:solidFill>
                <a:latin typeface="Segoe UI"/>
              </a:rPr>
              <a:t>kibermakonda faoliyat yurituvchi davlat organlari,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tashkilotlar va fuqarolar.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2-REJA · KIBERXAVFSIZLIK TO‘G‘RISIDAGI QONUN VA VAKOLATLI ORGANLAR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Vakolatli tashkilotlar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Fuqaro yoki tashkilot kiberhodisaga duch kelsa, bu tashkilotlarga,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firibgarlik holatida esa ichki ishlar organlariga murojaat qiladi.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87639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737866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Kiberxavfsizlik markazi: </a:t>
            </a:r>
            <a:r>
              <a:rPr sz="2600" b="0">
                <a:solidFill>
                  <a:srgbClr val="1B2A4A"/>
                </a:solidFill>
                <a:latin typeface="Segoe UI"/>
              </a:rPr>
              <a:t>(csec.uz) — kiberhodisalarni monitoring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qiladi, tavsiyalar beradi va hodisalarga javob berishda yordam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ko‘rsatadi.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4301911"/>
            <a:ext cx="109901" cy="10990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415213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UZCERT: </a:t>
            </a:r>
            <a:r>
              <a:rPr sz="2600" b="0">
                <a:solidFill>
                  <a:srgbClr val="1B2A4A"/>
                </a:solidFill>
                <a:latin typeface="Segoe UI"/>
              </a:rPr>
              <a:t>(uzcert.uz) — kompyuter hodisalariga javob berish xizmati: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zaifliklar va tahdidlar haqida ogohlantirishlar e’lon qiladi.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3-REJA · AXBOROT TEXNOLOGIYALARI SOHASIDAGI HUQUQBUZARLIKLAR UCHUN JAVOBGARLIK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Javobgarlik turlari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O‘zbekiston Respublikasi Jinoyat kodeksida axborot texnologiyalari sohasidagi jinoyatlar uchun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alohida bob mavjud.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34861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2508"/>
                <a:gridCol w="3065330"/>
                <a:gridCol w="6220816"/>
              </a:tblGrid>
              <a:tr h="75438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Javobgarlik turi</a:t>
                      </a:r>
                    </a:p>
                  </a:txBody>
                  <a:tcPr marL="109728" marR="109728" marT="73152" marB="73152">
                    <a:solidFill>
                      <a:srgbClr val="2F68B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Qachon qo‘llaniladi</a:t>
                      </a:r>
                    </a:p>
                  </a:txBody>
                  <a:tcPr marL="109728" marR="109728" marT="73152" marB="73152">
                    <a:solidFill>
                      <a:srgbClr val="2F68B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4EBDD"/>
                          </a:solidFill>
                          <a:latin typeface="Segoe UI"/>
                        </a:rPr>
                        <a:t>Misol</a:t>
                      </a:r>
                    </a:p>
                  </a:txBody>
                  <a:tcPr marL="109728" marR="109728" marT="73152" marB="73152">
                    <a:solidFill>
                      <a:srgbClr val="2F68B8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Intizomiy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Ish joyida ichki qoidalarni buzish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Xodim parolini hamkasbiga bergani uchun hayfsan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Ma’muriy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Kichik huquqbuzarliklar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Shaxsga doir ma’lumotlar to‘g‘risidagi qonunchilikni buzganlik uchun…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Fuqaroviy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Zarar yetkazilganda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Mualliflik huquqi buzilgani uchun zararni qoplash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Jinoiy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Og‘ir huquqbuzarliklar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B2A4A"/>
                          </a:solidFill>
                          <a:latin typeface="Segoe UI"/>
                        </a:rPr>
                        <a:t>Kompyuter tizimiga ruxsatsiz kirish, zararli dastur yaratish va…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40-MAVZU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208064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Kiberhodisa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4936991" cy="130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Axborot tizimlari ishining buzilishiga yoki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ulardagi axborotning maxfiyligi, yaxlitligi va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foydalanuvchanligi buzilishiga olib kelgan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voqea.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208064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Kiberjinoyat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22500"/>
            <a:ext cx="4936991" cy="130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Kompyuter, tarmoq yoki axborot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texnologiyalari yordamida yoki ularga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qarshi sodir etiladigan, qonunda jinoyat deb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belgilangan qilmish.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95439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954398"/>
            <a:ext cx="73152" cy="208064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411899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Kiberxavfsizlik subyekti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4531740"/>
            <a:ext cx="4936991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Kibermakonda faoliyat yurituvchi davlat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organlari, tashkilotlar va fuqarolar.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95439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954398"/>
            <a:ext cx="73152" cy="2080641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411899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Muhim axborot infratuzilmasi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4531740"/>
            <a:ext cx="4936991" cy="130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Ishdan chiqishi davlat boshqaruvi, mudofaa,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iqtisodiyot yoki aholi hayotiga jiddiy zarar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yetkazishi mumkin bo‘lgan axborot tizimlari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(energetika…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F68B8"/>
                </a:solidFill>
                <a:latin typeface="Segoe UI"/>
              </a:rPr>
              <a:t>40-MAVZU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O‘zbekistonning axborot sohasidagi qanday qonunlarini bilasiz?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«Kiberxavfsizlik to‘g‘risida»gi Qonun nimalarni belgilaydi?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Muhim axborot infratuzilmasiga misollar keltiring.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Kiberxavfsizlik markazi va UZCERT qanday vazifalarni bajaradi?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Axborot sohasidagi huquqbuzarliklar uchun qanday javobgarlik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turlari bor?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2F6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2F68B8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40-mavzu. Axborot xavfsizligiga oid qonunchilik asoslari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