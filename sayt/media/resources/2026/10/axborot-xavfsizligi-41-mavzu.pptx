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11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F68B8"/>
                </a:solidFill>
                <a:latin typeface="Georgia"/>
              </a:rPr>
              <a:t>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232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Axborotdan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foydalanishda mualliflik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huquqi va plagiatni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aniqlash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036694"/>
            <a:ext cx="1097280" cy="5486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35673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47386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5866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41-MAVZU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Mualliflik huquqi va dasturiy ta’minot litsenziyalari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plagiatni aniqlash usullari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Manbalarga to‘g‘ri havola berish va qonuniy foydalanish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41-MAVZU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dasturiy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ta’minot litsenziyalarini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farqlash, matn va rasm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plagiatini aniqlash hamda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manbalarga to‘g‘ri havola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berish ko‘nikmasini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litsenziya turlarini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aniqlaydi, qidiruv tizimi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teskari rasm qidiruvi orqali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plagiatni topadi, Creative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Commons litsenziyali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materiallardan to‘g‘ri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foydalanadi va iqtibos keltiradi.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MUALLIFLIK HUQUQI VA DASTURIY TA’MINOT LITSENZIYALARI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Mualliflik huquqi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Mualliflik huquqi: </a:t>
            </a:r>
            <a:r>
              <a:rPr sz="2600" b="0">
                <a:solidFill>
                  <a:srgbClr val="1B2A4A"/>
                </a:solidFill>
                <a:latin typeface="Segoe UI"/>
              </a:rPr>
              <a:t>fan, adabiyot va san’at asarlari, jumladan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kompyuter dasturlari va ma’lumotlar bazalari mualliflariga ularning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asarlaridan foydalanish yuzasidan…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20920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05943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Plagiat: </a:t>
            </a:r>
            <a:r>
              <a:rPr sz="2600" b="0">
                <a:solidFill>
                  <a:srgbClr val="1B2A4A"/>
                </a:solidFill>
                <a:latin typeface="Segoe UI"/>
              </a:rPr>
              <a:t>birovning asari yoki uning bir qismini muallifini ko‘rsatmasdan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o‘z nomidan taqdim etish.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MUALLIFLIK HUQUQI VA DASTURIY TA’MINOT LITSENZIYALARI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Dasturiy ta’minot litsenziyalari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4113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330"/>
                <a:gridCol w="4876661"/>
                <a:gridCol w="3413663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Litsenziya turi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Mazmuni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Misollar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Tijoriy (proprietar)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Pullik, nusxalash va tarqatish taqiqlangan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Windows, MS Office, Photoshop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Freeware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Bepul foydalanish, lekin kodi yopiq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Google Chrome, Adobe Acrobat Reader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Shareware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Sinov muddati yoki cheklangan versiya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WinRAR, ba’zi antiviruslar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Ochiq kodli (open source)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Bepul, kodini ko‘rish va o‘zgartirish mumkin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Linux, LibreOffice, Firefox, 7-Zip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Creative Commons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Rasm, matn, musiqa uchun shartli bepul foydalanish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Wikimedia Commons materiallari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AMALIY ISH: PLAGIATNI ANIQLASH USULLARI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319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Matn plagiatini tekshirish.: </a:t>
            </a:r>
            <a:r>
              <a:rPr sz="1800" b="0">
                <a:solidFill>
                  <a:srgbClr val="1B2A4A"/>
                </a:solidFill>
                <a:latin typeface="Segoe UI"/>
              </a:rPr>
              <a:t>O‘qituvchi bergan referatdan bitta noodatiy gapni nusxalab, qidiruv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tizimida qo‘shtirnoq ichida qidiring: "gapning aniq matni".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46345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37667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Bir nechta gapni sinash.: </a:t>
            </a:r>
            <a:r>
              <a:rPr sz="1800" b="0">
                <a:solidFill>
                  <a:srgbClr val="1B2A4A"/>
                </a:solidFill>
                <a:latin typeface="Segoe UI"/>
              </a:rPr>
              <a:t>Matnning turli qismlaridan 3–4 ta gapni tekshirib, qaysi qismi ko‘chirilganini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aniqlang.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19497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10819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Teskari rasm qidiruvi.: </a:t>
            </a:r>
            <a:r>
              <a:rPr sz="1800" b="0">
                <a:solidFill>
                  <a:srgbClr val="1B2A4A"/>
                </a:solidFill>
                <a:latin typeface="Segoe UI"/>
              </a:rPr>
              <a:t>images.google.com yoki Google Lens orqali rasmni yuklang — rasmning asl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manbai va boshqa nusxalari topiladi.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649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83971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Litsenziyani aniqlash.: </a:t>
            </a:r>
            <a:r>
              <a:rPr sz="1800" b="0">
                <a:solidFill>
                  <a:srgbClr val="1B2A4A"/>
                </a:solidFill>
                <a:latin typeface="Segoe UI"/>
              </a:rPr>
              <a:t>Dastur yoki rasm sahifasida «License», «Лицензия», «CC BY» kabi belgilarni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toping.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65801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57123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Qonuniy rasm topish.: </a:t>
            </a:r>
            <a:r>
              <a:rPr sz="1800" b="0">
                <a:solidFill>
                  <a:srgbClr val="1B2A4A"/>
                </a:solidFill>
                <a:latin typeface="Segoe UI"/>
              </a:rPr>
              <a:t>Google rasmlar qidiruvida «Инструменты» → «Права на использование» →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«Лицензии Creative Commons» filtrini qo‘llang.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3895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02758"/>
            <a:ext cx="1072986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1B2A4A"/>
                </a:solidFill>
                <a:latin typeface="Segoe UI"/>
              </a:rPr>
              <a:t>Teskari rasm qidiruvi: </a:t>
            </a:r>
            <a:r>
              <a:rPr sz="1800" b="0">
                <a:solidFill>
                  <a:srgbClr val="1B2A4A"/>
                </a:solidFill>
                <a:latin typeface="Segoe UI"/>
              </a:rPr>
              <a:t>rasmni namuna sifatida berib, internetda aynan shu yoki o‘xshash rasmlarni</a:t>
            </a:r>
            <a:br/>
            <a:r>
              <a:rPr sz="1800" b="0">
                <a:solidFill>
                  <a:srgbClr val="1B2A4A"/>
                </a:solidFill>
                <a:latin typeface="Segoe UI"/>
              </a:rPr>
              <a:t>topish usuli.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MANBALARGA TO‘G‘RI HAVOLA BERISH VA QONUNIY FOYDALANISH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Manbaga havola berish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Birovning fikri, matni yoki rasmidan foydalanilsa, albatta manba ko‘rsatiladi: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4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562"/>
                <a:gridCol w="9078092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Manba turi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Havola namunasi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Kitob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G‘aniyev S.K. va boshq. Axborot xavfsizligi. — Toshkent. — 45-bet.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Veb-sahifa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Kiberxavfsizlik markazi. Parol xavfsizligi bo‘yicha tavsiyalar.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Rasm (CC BY)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Rasm muallifi: Ism Familiya, Wikimedia Commons, CC BY 4.0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MANBALARGA TO‘G‘RI HAVOLA BERISH VA QONUNIY FOYDALANISH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Creative Commons belgilari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Manbani ko‘rsatib iqtibos keltirish plagiat hisoblanmaydi; plagiat bu manbani yashirishdir. Referat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va loyiha ishlarida manbalar ro‘yxati albatta beriladi.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5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43"/>
                <a:gridCol w="9428212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Belgi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BY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Muallifni ko‘rsatish shart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NC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Tijoriy maqsadda foydalanish mumkin emas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ND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O‘zgartirish mumkin emas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O‘zgartirilgan asar ham xuddi shu litsenziyada tarqatiladi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41-MAVZU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294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4"/>
              </a:lnSpc>
            </a:pPr>
            <a:r>
              <a:rPr sz="1700" b="1">
                <a:solidFill>
                  <a:srgbClr val="1B2A4A"/>
                </a:solidFill>
                <a:latin typeface="Georgia"/>
              </a:rPr>
              <a:t>Mualliflik huquqi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149475"/>
            <a:ext cx="4936991" cy="739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3A4560"/>
                </a:solidFill>
                <a:latin typeface="Segoe UI"/>
              </a:rPr>
              <a:t>Fan, adabiyot va san’at asarlari, jumladan kompyuter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dasturlari va ma’lumotlar bazalari mualliflariga ularning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asarlaridan foydalanish yuzasidan…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37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2000" b="1">
                <a:solidFill>
                  <a:srgbClr val="1B2A4A"/>
                </a:solidFill>
                <a:latin typeface="Georgia"/>
              </a:rPr>
              <a:t>Ochiq kodli dastur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193290"/>
            <a:ext cx="4936991" cy="60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3A4560"/>
                </a:solidFill>
                <a:latin typeface="Segoe UI"/>
              </a:rPr>
              <a:t>Manba kodi hammaga ochiq bo‘lib, uni ko‘rish,</a:t>
            </a:r>
            <a:br/>
            <a:r>
              <a:rPr sz="1700" b="0">
                <a:solidFill>
                  <a:srgbClr val="3A4560"/>
                </a:solidFill>
                <a:latin typeface="Segoe UI"/>
              </a:rPr>
              <a:t>o‘zgartirish va tarqatish ruxsat etilgan dastur.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Piratlik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Litsenziyalangan dastur, film yoki musiqani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egasining ruxsatisiz nusxalash va tarqatish.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Plagiat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Birovning asari yoki uning bir qismini muallifini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ko‘rsatmasdan o‘z nomidan taqdim etish.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Teskari rasm qidiruvi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Rasmni namuna sifatida berib, internetda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aynan shu yoki o‘xshash rasmlarni topish usuli.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41-MAVZU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Freeware va ochiq kodli dasturning farqi nimada?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Plagiat deganda nimani tushunasiz?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Matn plagiatini qidiruv tizimida qanday tekshirish mumkin?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Teskari rasm qidiruvi qanday ishlaydi?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Creative Commons «BY» va «NC» belgilari nimani bildiradi?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41-mavzu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F68B8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41-mavzu. Axborotdan foydalanishda mualliflik huquqi va plagiatni aniqlash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