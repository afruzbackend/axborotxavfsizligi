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xavfsizligi · 45-mavzu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 / 9</a:t>
            </a:r>
          </a:p>
        </p:txBody>
      </p:sp>
      <p:sp>
        <p:nvSpPr>
          <p:cNvPr id="34" name="Round Same Side Corner Rectangle 33"/>
          <p:cNvSpPr/>
          <p:nvPr/>
        </p:nvSpPr>
        <p:spPr>
          <a:xfrm>
            <a:off x="731520" y="777240"/>
            <a:ext cx="3291840" cy="512064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698430" y="1835590"/>
            <a:ext cx="1358019" cy="1358019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 rot="2700000">
            <a:off x="1698430" y="1835590"/>
            <a:ext cx="1358019" cy="1358019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280160" y="2148840"/>
            <a:ext cx="2282342" cy="629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4600"/>
              </a:lnSpc>
            </a:pPr>
            <a:r>
              <a:rPr sz="4600" b="1">
                <a:solidFill>
                  <a:srgbClr val="2F68B8"/>
                </a:solidFill>
                <a:latin typeface="Georgia"/>
              </a:rPr>
              <a:t>45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4400" y="4114800"/>
            <a:ext cx="3043123" cy="2679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750"/>
              </a:lnSpc>
            </a:pPr>
            <a:r>
              <a:rPr sz="1400" b="1">
                <a:solidFill>
                  <a:srgbClr val="F4EBDD"/>
                </a:solidFill>
                <a:latin typeface="Segoe UI"/>
              </a:rPr>
              <a:t>MAVZU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" y="4434840"/>
            <a:ext cx="3043123" cy="252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625"/>
              </a:lnSpc>
            </a:pPr>
            <a:r>
              <a:rPr sz="1300" b="0">
                <a:solidFill>
                  <a:srgbClr val="F4EBDD"/>
                </a:solidFill>
                <a:latin typeface="Segoe UI"/>
              </a:rPr>
              <a:t>Amaliy · 2 soat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72000" y="1097280"/>
            <a:ext cx="7163702" cy="252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25"/>
              </a:lnSpc>
            </a:pPr>
            <a:r>
              <a:rPr sz="1300" b="1">
                <a:solidFill>
                  <a:srgbClr val="2F68B8"/>
                </a:solidFill>
                <a:latin typeface="Segoe UI"/>
              </a:rPr>
              <a:t>AXBOROT XAVFSIZLIGI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0" y="1532255"/>
            <a:ext cx="7163702" cy="1752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4480"/>
              </a:lnSpc>
            </a:pPr>
            <a:r>
              <a:rPr sz="4000" b="1">
                <a:solidFill>
                  <a:srgbClr val="1B2A4A"/>
                </a:solidFill>
                <a:latin typeface="Georgia"/>
              </a:rPr>
              <a:t>Axborotdan mas’uliyatli</a:t>
            </a:r>
            <a:br/>
            <a:r>
              <a:rPr sz="4000" b="1">
                <a:solidFill>
                  <a:srgbClr val="1B2A4A"/>
                </a:solidFill>
                <a:latin typeface="Georgia"/>
              </a:rPr>
              <a:t>foydalanish va kiberetika</a:t>
            </a:r>
            <a:br/>
            <a:r>
              <a:rPr sz="4000" b="1">
                <a:solidFill>
                  <a:srgbClr val="1B2A4A"/>
                </a:solidFill>
                <a:latin typeface="Georgia"/>
              </a:rPr>
              <a:t>qoidalarini qo‘llash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572000" y="3467735"/>
            <a:ext cx="1097280" cy="54864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572000" y="3787774"/>
            <a:ext cx="7163702" cy="3632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500"/>
              </a:lnSpc>
            </a:pPr>
            <a:r>
              <a:rPr sz="2000" b="1">
                <a:solidFill>
                  <a:srgbClr val="1B2A4A"/>
                </a:solidFill>
                <a:latin typeface="Segoe UI"/>
              </a:rPr>
              <a:t>Oydin Tashtemirova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72000" y="4178427"/>
            <a:ext cx="7163702" cy="2838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75"/>
              </a:lnSpc>
            </a:pPr>
            <a:r>
              <a:rPr sz="1500" b="0">
                <a:solidFill>
                  <a:srgbClr val="6B6457"/>
                </a:solidFill>
                <a:latin typeface="Segoe UI"/>
              </a:rPr>
              <a:t>Maxsus fan o‘qituvchisi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0" y="4489704"/>
            <a:ext cx="7163702" cy="2838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75"/>
              </a:lnSpc>
            </a:pPr>
            <a:r>
              <a:rPr sz="1500" b="0">
                <a:solidFill>
                  <a:srgbClr val="6B6457"/>
                </a:solidFill>
                <a:latin typeface="Segoe UI"/>
              </a:rPr>
              <a:t>Piskent tumani 1-son texnikumi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xavfsizligi · 45-mavzu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2 / 9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2F68B8"/>
                </a:solidFill>
                <a:latin typeface="Segoe UI"/>
              </a:rPr>
              <a:t>45-MAVZU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Mashg‘ulot rejasi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731520" y="1645158"/>
            <a:ext cx="10728655" cy="1234440"/>
          </a:xfrm>
          <a:prstGeom prst="roundRect">
            <a:avLst>
              <a:gd name="adj" fmla="val 5925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047356" y="2029574"/>
            <a:ext cx="465606" cy="465606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 rot="2700000">
            <a:off x="1047356" y="2029574"/>
            <a:ext cx="465606" cy="465606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05840" y="2079498"/>
            <a:ext cx="570585" cy="299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00"/>
              </a:lnSpc>
            </a:pPr>
            <a:r>
              <a:rPr sz="2000" b="1">
                <a:solidFill>
                  <a:srgbClr val="F4EBDD"/>
                </a:solidFill>
                <a:latin typeface="Georgia"/>
              </a:rPr>
              <a:t>1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828800" y="2079498"/>
            <a:ext cx="9826435" cy="4114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>
                <a:solidFill>
                  <a:srgbClr val="1B2A4A"/>
                </a:solidFill>
                <a:latin typeface="Georgia"/>
              </a:rPr>
              <a:t>Kiberetika bo‘yicha vaziyatli masalalar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31520" y="3108198"/>
            <a:ext cx="10728655" cy="1234440"/>
          </a:xfrm>
          <a:prstGeom prst="roundRect">
            <a:avLst>
              <a:gd name="adj" fmla="val 5925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1047356" y="3492614"/>
            <a:ext cx="465606" cy="465606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 rot="2700000">
            <a:off x="1047356" y="3492614"/>
            <a:ext cx="465606" cy="465606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005840" y="3542538"/>
            <a:ext cx="570585" cy="299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00"/>
              </a:lnSpc>
            </a:pPr>
            <a:r>
              <a:rPr sz="2000" b="1">
                <a:solidFill>
                  <a:srgbClr val="F4EBDD"/>
                </a:solidFill>
                <a:latin typeface="Georgia"/>
              </a:rPr>
              <a:t>2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828800" y="3359658"/>
            <a:ext cx="9826435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>
                <a:solidFill>
                  <a:srgbClr val="1B2A4A"/>
                </a:solidFill>
                <a:latin typeface="Georgia"/>
              </a:rPr>
              <a:t>Amaliy ish: platformalarda xabar berish va bloklash</a:t>
            </a:r>
            <a:br/>
            <a:r>
              <a:rPr sz="2400" b="1">
                <a:solidFill>
                  <a:srgbClr val="1B2A4A"/>
                </a:solidFill>
                <a:latin typeface="Georgia"/>
              </a:rPr>
              <a:t>funksiyalari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31520" y="4571238"/>
            <a:ext cx="10728655" cy="1234440"/>
          </a:xfrm>
          <a:prstGeom prst="roundRect">
            <a:avLst>
              <a:gd name="adj" fmla="val 5925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1047356" y="4955654"/>
            <a:ext cx="465606" cy="465606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 rot="2700000">
            <a:off x="1047356" y="4955654"/>
            <a:ext cx="465606" cy="465606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005840" y="5005578"/>
            <a:ext cx="570585" cy="299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00"/>
              </a:lnSpc>
            </a:pPr>
            <a:r>
              <a:rPr sz="2000" b="1">
                <a:solidFill>
                  <a:srgbClr val="F4EBDD"/>
                </a:solidFill>
                <a:latin typeface="Georgia"/>
              </a:rPr>
              <a:t>3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828800" y="5005578"/>
            <a:ext cx="9826435" cy="4114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>
                <a:solidFill>
                  <a:srgbClr val="1B2A4A"/>
                </a:solidFill>
                <a:latin typeface="Georgia"/>
              </a:rPr>
              <a:t>Guruh uchun kiberetika kodeksini ishlab chiqish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xavfsizligi · 45-mavzu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3 / 9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2F68B8"/>
                </a:solidFill>
                <a:latin typeface="Segoe UI"/>
              </a:rPr>
              <a:t>45-MAVZU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Maqsad va kutilayotgan natija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731520" y="1645158"/>
            <a:ext cx="5181447" cy="4344161"/>
          </a:xfrm>
          <a:prstGeom prst="roundRect">
            <a:avLst>
              <a:gd name="adj" fmla="val 1683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31520" y="1645158"/>
            <a:ext cx="5181447" cy="82296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51560" y="1965198"/>
            <a:ext cx="4723022" cy="252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25"/>
              </a:lnSpc>
            </a:pPr>
            <a:r>
              <a:rPr sz="1300" b="1">
                <a:solidFill>
                  <a:srgbClr val="2F68B8"/>
                </a:solidFill>
                <a:latin typeface="Segoe UI"/>
              </a:rPr>
              <a:t>MAQSAD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51560" y="2376678"/>
            <a:ext cx="4723022" cy="3337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sz="2400" b="0">
                <a:solidFill>
                  <a:srgbClr val="3A4560"/>
                </a:solidFill>
                <a:latin typeface="Segoe UI"/>
              </a:rPr>
              <a:t>O‘quvchilarda kiberetika</a:t>
            </a:r>
            <a:br/>
            <a:r>
              <a:rPr sz="2400" b="0">
                <a:solidFill>
                  <a:srgbClr val="3A4560"/>
                </a:solidFill>
                <a:latin typeface="Segoe UI"/>
              </a:rPr>
              <a:t>vaziyatlarida to‘g‘ri qaror qabul</a:t>
            </a:r>
            <a:br/>
            <a:r>
              <a:rPr sz="2400" b="0">
                <a:solidFill>
                  <a:srgbClr val="3A4560"/>
                </a:solidFill>
                <a:latin typeface="Segoe UI"/>
              </a:rPr>
              <a:t>qilish, platformalarning xabar</a:t>
            </a:r>
            <a:br/>
            <a:r>
              <a:rPr sz="2400" b="0">
                <a:solidFill>
                  <a:srgbClr val="3A4560"/>
                </a:solidFill>
                <a:latin typeface="Segoe UI"/>
              </a:rPr>
              <a:t>berish va bloklash funksiyalaridan</a:t>
            </a:r>
            <a:br/>
            <a:r>
              <a:rPr sz="2400" b="0">
                <a:solidFill>
                  <a:srgbClr val="3A4560"/>
                </a:solidFill>
                <a:latin typeface="Segoe UI"/>
              </a:rPr>
              <a:t>foydalanish hamda jamoaviy</a:t>
            </a:r>
            <a:br/>
            <a:r>
              <a:rPr sz="2400" b="0">
                <a:solidFill>
                  <a:srgbClr val="3A4560"/>
                </a:solidFill>
                <a:latin typeface="Segoe UI"/>
              </a:rPr>
              <a:t>kiberetika qoidalarini ishlab</a:t>
            </a:r>
            <a:br/>
            <a:r>
              <a:rPr sz="2400" b="0">
                <a:solidFill>
                  <a:srgbClr val="3A4560"/>
                </a:solidFill>
                <a:latin typeface="Segoe UI"/>
              </a:rPr>
              <a:t>chiqish ko‘nikmasini</a:t>
            </a:r>
            <a:br/>
            <a:r>
              <a:rPr sz="2400" b="0">
                <a:solidFill>
                  <a:srgbClr val="3A4560"/>
                </a:solidFill>
                <a:latin typeface="Segoe UI"/>
              </a:rPr>
              <a:t>shakllantirish.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278727" y="1645158"/>
            <a:ext cx="5181447" cy="4344161"/>
          </a:xfrm>
          <a:prstGeom prst="roundRect">
            <a:avLst>
              <a:gd name="adj" fmla="val 1683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278727" y="1645158"/>
            <a:ext cx="5181447" cy="82296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598767" y="1965198"/>
            <a:ext cx="4723022" cy="252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25"/>
              </a:lnSpc>
            </a:pPr>
            <a:r>
              <a:rPr sz="1300" b="1">
                <a:solidFill>
                  <a:srgbClr val="B9862A"/>
                </a:solidFill>
                <a:latin typeface="Segoe UI"/>
              </a:rPr>
              <a:t>KUTILAYOTGAN NATIJA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598767" y="2376678"/>
            <a:ext cx="4723022" cy="27203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510"/>
              </a:lnSpc>
            </a:pPr>
            <a:r>
              <a:rPr sz="2600" b="0">
                <a:solidFill>
                  <a:srgbClr val="3A4560"/>
                </a:solidFill>
                <a:latin typeface="Segoe UI"/>
              </a:rPr>
              <a:t>O‘quvchilar vaziyatlarni axloqiy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jihatdan tahlil qiladi, Telegram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va Instagram’da shikoyat va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bloklash funksiyalarini topadi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va guruh uchun kiberetika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kodeksini yozadi.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xavfsizligi · 45-mavzu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4 / 9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2F68B8"/>
                </a:solidFill>
                <a:latin typeface="Segoe UI"/>
              </a:rPr>
              <a:t>1-REJA · KIBERETIKA BO‘YICHA VAZIYATLI MASALALAR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Vaziyatli masalalar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70053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673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70"/>
              </a:lnSpc>
            </a:pPr>
            <a:r>
              <a:rPr sz="1900" b="0">
                <a:solidFill>
                  <a:srgbClr val="3A4560"/>
                </a:solidFill>
                <a:latin typeface="Segoe UI"/>
              </a:rPr>
              <a:t>Har bir guruh 2 ta vaziyatni oladi, mumkin bo‘lgan harakatlarni va ularning oqibatlarini yozadi,</a:t>
            </a:r>
            <a:br/>
            <a:r>
              <a:rPr sz="1900" b="0">
                <a:solidFill>
                  <a:srgbClr val="3A4560"/>
                </a:solidFill>
                <a:latin typeface="Segoe UI"/>
              </a:rPr>
              <a:t>so‘ng eng to‘g‘ri yo‘lni asoslaydi.</a:t>
            </a:r>
          </a:p>
        </p:txBody>
      </p:sp>
      <p:graphicFrame>
        <p:nvGraphicFramePr>
          <p:cNvPr id="39" name="Table 38"/>
          <p:cNvGraphicFramePr>
            <a:graphicFrameLocks noGrp="1"/>
          </p:cNvGraphicFramePr>
          <p:nvPr/>
        </p:nvGraphicFramePr>
        <p:xfrm>
          <a:off x="731520" y="2501138"/>
          <a:ext cx="10728655" cy="352615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94715"/>
                <a:gridCol w="6953758"/>
                <a:gridCol w="2980182"/>
              </a:tblGrid>
              <a:tr h="452755">
                <a:tc>
                  <a:txBody>
                    <a:bodyPr wrap="square"/>
                    <a:lstStyle/>
                    <a:p>
                      <a:r>
                        <a:rPr sz="1700" b="1">
                          <a:solidFill>
                            <a:srgbClr val="F4EBDD"/>
                          </a:solidFill>
                          <a:latin typeface="Segoe UI"/>
                        </a:rPr>
                        <a:t>№</a:t>
                      </a:r>
                    </a:p>
                  </a:txBody>
                  <a:tcPr marL="109728" marR="109728" marT="73152" marB="73152">
                    <a:solidFill>
                      <a:srgbClr val="2F68B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1">
                          <a:solidFill>
                            <a:srgbClr val="F4EBDD"/>
                          </a:solidFill>
                          <a:latin typeface="Segoe UI"/>
                        </a:rPr>
                        <a:t>Vaziyat</a:t>
                      </a:r>
                    </a:p>
                  </a:txBody>
                  <a:tcPr marL="109728" marR="109728" marT="73152" marB="73152">
                    <a:solidFill>
                      <a:srgbClr val="2F68B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1">
                          <a:solidFill>
                            <a:srgbClr val="F4EBDD"/>
                          </a:solidFill>
                          <a:latin typeface="Segoe UI"/>
                        </a:rPr>
                        <a:t>Savol</a:t>
                      </a:r>
                    </a:p>
                  </a:txBody>
                  <a:tcPr marL="109728" marR="109728" marT="73152" marB="73152">
                    <a:solidFill>
                      <a:srgbClr val="2F68B8"/>
                    </a:solidFill>
                  </a:tcPr>
                </a:tc>
              </a:tr>
              <a:tr h="452755"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B2A4A"/>
                          </a:solidFill>
                          <a:latin typeface="Segoe UI"/>
                        </a:rPr>
                        <a:t>1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B2A4A"/>
                          </a:solidFill>
                          <a:latin typeface="Segoe UI"/>
                        </a:rPr>
                        <a:t>Guruhdoshingizning kulgili rasmini u bilmagan holda guruh chatiga…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B2A4A"/>
                          </a:solidFill>
                          <a:latin typeface="Segoe UI"/>
                        </a:rPr>
                        <a:t>Siz nima qilasiz?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722630"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B2A4A"/>
                          </a:solidFill>
                          <a:latin typeface="Segoe UI"/>
                        </a:rPr>
                        <a:t>2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B2A4A"/>
                          </a:solidFill>
                          <a:latin typeface="Segoe UI"/>
                        </a:rPr>
                        <a:t>Do‘stingiz uy vazifasini sun’iy intellektga to‘liq yozdirib, o‘ziniki…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B2A4A"/>
                          </a:solidFill>
                          <a:latin typeface="Segoe UI"/>
                        </a:rPr>
                        <a:t>Unga qanday maslahat berasiz?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  <a:tr h="722630"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B2A4A"/>
                          </a:solidFill>
                          <a:latin typeface="Segoe UI"/>
                        </a:rPr>
                        <a:t>3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B2A4A"/>
                          </a:solidFill>
                          <a:latin typeface="Segoe UI"/>
                        </a:rPr>
                        <a:t>Sizga «Bu sirni hech kimga aytma» deb yuborilgan shaxsiy xabar keldi…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B2A4A"/>
                          </a:solidFill>
                          <a:latin typeface="Segoe UI"/>
                        </a:rPr>
                        <a:t>Qanday yo‘l tutasiz?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722630"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B2A4A"/>
                          </a:solidFill>
                          <a:latin typeface="Segoe UI"/>
                        </a:rPr>
                        <a:t>4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B2A4A"/>
                          </a:solidFill>
                          <a:latin typeface="Segoe UI"/>
                        </a:rPr>
                        <a:t>Ijtimoiy tarmoqda o‘qituvchingiz nomidan soxta sahifa ochilgan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B2A4A"/>
                          </a:solidFill>
                          <a:latin typeface="Segoe UI"/>
                        </a:rPr>
                        <a:t>Kimga va qanday xabar berasiz?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  <a:tr h="452755"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B2A4A"/>
                          </a:solidFill>
                          <a:latin typeface="Segoe UI"/>
                        </a:rPr>
                        <a:t>5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B2A4A"/>
                          </a:solidFill>
                          <a:latin typeface="Segoe UI"/>
                        </a:rPr>
                        <a:t>Guruh chatida bir o‘quvchini doimiy masxara qilishmoqda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B2A4A"/>
                          </a:solidFill>
                          <a:latin typeface="Segoe UI"/>
                        </a:rPr>
                        <a:t>Guvoh sifatida nima qilasiz?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xavfsizligi · 45-mavzu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5 / 9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2F68B8"/>
                </a:solidFill>
                <a:latin typeface="Segoe UI"/>
              </a:rPr>
              <a:t>2-REJA · AMALIY ISH: PLATFORMALARDA XABAR BERISH VA BLOKLASH FUNKSIYALARI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Xabar berish va bloklash funksiyalari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70053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673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70"/>
              </a:lnSpc>
            </a:pPr>
            <a:r>
              <a:rPr sz="1900" b="0">
                <a:solidFill>
                  <a:srgbClr val="3A4560"/>
                </a:solidFill>
                <a:latin typeface="Segoe UI"/>
              </a:rPr>
              <a:t>Funksiyalar o‘quv hisoblarida yoki o‘qituvchi namoyishida ko‘rib chiqiladi — haqiqiy</a:t>
            </a:r>
            <a:br/>
            <a:r>
              <a:rPr sz="1900" b="0">
                <a:solidFill>
                  <a:srgbClr val="3A4560"/>
                </a:solidFill>
                <a:latin typeface="Segoe UI"/>
              </a:rPr>
              <a:t>foydalanuvchilarga asossiz shikoyat yuborilmaydi.</a:t>
            </a:r>
          </a:p>
        </p:txBody>
      </p:sp>
      <p:sp>
        <p:nvSpPr>
          <p:cNvPr id="39" name="Rectangle 38"/>
          <p:cNvSpPr/>
          <p:nvPr/>
        </p:nvSpPr>
        <p:spPr>
          <a:xfrm rot="2700000">
            <a:off x="841161" y="2560487"/>
            <a:ext cx="109901" cy="109901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43000" y="2473706"/>
            <a:ext cx="1072986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304"/>
              </a:lnSpc>
            </a:pPr>
            <a:r>
              <a:rPr sz="1800" b="1">
                <a:solidFill>
                  <a:srgbClr val="1B2A4A"/>
                </a:solidFill>
                <a:latin typeface="Segoe UI"/>
              </a:rPr>
              <a:t>Telegram — bloklash.: </a:t>
            </a:r>
            <a:r>
              <a:rPr sz="1800" b="0">
                <a:solidFill>
                  <a:srgbClr val="1B2A4A"/>
                </a:solidFill>
                <a:latin typeface="Segoe UI"/>
              </a:rPr>
              <a:t>Foydalanuvchi profili → «⋮» → «Заблокировать».</a:t>
            </a:r>
          </a:p>
        </p:txBody>
      </p:sp>
      <p:sp>
        <p:nvSpPr>
          <p:cNvPr id="41" name="Rectangle 40"/>
          <p:cNvSpPr/>
          <p:nvPr/>
        </p:nvSpPr>
        <p:spPr>
          <a:xfrm rot="2700000">
            <a:off x="841161" y="2999399"/>
            <a:ext cx="109901" cy="109901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143000" y="2912618"/>
            <a:ext cx="10729862" cy="6309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304"/>
              </a:lnSpc>
            </a:pPr>
            <a:r>
              <a:rPr sz="1800" b="1">
                <a:solidFill>
                  <a:srgbClr val="1B2A4A"/>
                </a:solidFill>
                <a:latin typeface="Segoe UI"/>
              </a:rPr>
              <a:t>Telegram — shikoyat.: </a:t>
            </a:r>
            <a:r>
              <a:rPr sz="1800" b="0">
                <a:solidFill>
                  <a:srgbClr val="1B2A4A"/>
                </a:solidFill>
                <a:latin typeface="Segoe UI"/>
              </a:rPr>
              <a:t>Xabar ustida bosib turing → «Пожаловаться» → sababni tanlang (spam,</a:t>
            </a:r>
            <a:br/>
            <a:r>
              <a:rPr sz="1800" b="0">
                <a:solidFill>
                  <a:srgbClr val="1B2A4A"/>
                </a:solidFill>
                <a:latin typeface="Segoe UI"/>
              </a:rPr>
              <a:t>zo‘ravonlik, soxta akkaunt va boshqalar).</a:t>
            </a:r>
          </a:p>
        </p:txBody>
      </p:sp>
      <p:sp>
        <p:nvSpPr>
          <p:cNvPr id="43" name="Rectangle 42"/>
          <p:cNvSpPr/>
          <p:nvPr/>
        </p:nvSpPr>
        <p:spPr>
          <a:xfrm rot="2700000">
            <a:off x="841161" y="3730919"/>
            <a:ext cx="109901" cy="109901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143000" y="3644138"/>
            <a:ext cx="1072986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304"/>
              </a:lnSpc>
            </a:pPr>
            <a:r>
              <a:rPr sz="1800" b="1">
                <a:solidFill>
                  <a:srgbClr val="1B2A4A"/>
                </a:solidFill>
                <a:latin typeface="Segoe UI"/>
              </a:rPr>
              <a:t>Instagram — shikoyat.: </a:t>
            </a:r>
            <a:r>
              <a:rPr sz="1800" b="0">
                <a:solidFill>
                  <a:srgbClr val="1B2A4A"/>
                </a:solidFill>
                <a:latin typeface="Segoe UI"/>
              </a:rPr>
              <a:t>Post yoki profilda «⋯» → «Пожаловаться» → sababni tanlang.</a:t>
            </a:r>
          </a:p>
        </p:txBody>
      </p:sp>
      <p:sp>
        <p:nvSpPr>
          <p:cNvPr id="45" name="Rectangle 44"/>
          <p:cNvSpPr/>
          <p:nvPr/>
        </p:nvSpPr>
        <p:spPr>
          <a:xfrm rot="2700000">
            <a:off x="841161" y="4169831"/>
            <a:ext cx="109901" cy="109901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143000" y="4083050"/>
            <a:ext cx="10729862" cy="6309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304"/>
              </a:lnSpc>
            </a:pPr>
            <a:r>
              <a:rPr sz="1800" b="1">
                <a:solidFill>
                  <a:srgbClr val="1B2A4A"/>
                </a:solidFill>
                <a:latin typeface="Segoe UI"/>
              </a:rPr>
              <a:t>Instagram — cheklash.: </a:t>
            </a:r>
            <a:r>
              <a:rPr sz="1800" b="0">
                <a:solidFill>
                  <a:srgbClr val="1B2A4A"/>
                </a:solidFill>
                <a:latin typeface="Segoe UI"/>
              </a:rPr>
              <a:t>«Ограничить» funksiyasi: odam bloklanganini bilmaydi, lekin uning izohlari</a:t>
            </a:r>
            <a:br/>
            <a:r>
              <a:rPr sz="1800" b="0">
                <a:solidFill>
                  <a:srgbClr val="1B2A4A"/>
                </a:solidFill>
                <a:latin typeface="Segoe UI"/>
              </a:rPr>
              <a:t>faqat o‘ziga ko‘rinadi.</a:t>
            </a:r>
          </a:p>
        </p:txBody>
      </p:sp>
      <p:sp>
        <p:nvSpPr>
          <p:cNvPr id="47" name="Rectangle 46"/>
          <p:cNvSpPr/>
          <p:nvPr/>
        </p:nvSpPr>
        <p:spPr>
          <a:xfrm rot="2700000">
            <a:off x="841161" y="4901351"/>
            <a:ext cx="109901" cy="109901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143000" y="4814570"/>
            <a:ext cx="10729862" cy="6309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304"/>
              </a:lnSpc>
            </a:pPr>
            <a:r>
              <a:rPr sz="1800" b="1">
                <a:solidFill>
                  <a:srgbClr val="1B2A4A"/>
                </a:solidFill>
                <a:latin typeface="Segoe UI"/>
              </a:rPr>
              <a:t>Izohlarni filtrlash.: </a:t>
            </a:r>
            <a:r>
              <a:rPr sz="1800" b="0">
                <a:solidFill>
                  <a:srgbClr val="1B2A4A"/>
                </a:solidFill>
                <a:latin typeface="Segoe UI"/>
              </a:rPr>
              <a:t>Instagram «Настройки» → «Скрытые слова» — haqoratli so‘zlar avtomatik</a:t>
            </a:r>
            <a:br/>
            <a:r>
              <a:rPr sz="1800" b="0">
                <a:solidFill>
                  <a:srgbClr val="1B2A4A"/>
                </a:solidFill>
                <a:latin typeface="Segoe UI"/>
              </a:rPr>
              <a:t>yashiriladi.</a:t>
            </a:r>
          </a:p>
        </p:txBody>
      </p:sp>
      <p:sp>
        <p:nvSpPr>
          <p:cNvPr id="49" name="Rectangle 48"/>
          <p:cNvSpPr/>
          <p:nvPr/>
        </p:nvSpPr>
        <p:spPr>
          <a:xfrm rot="2700000">
            <a:off x="841161" y="5632871"/>
            <a:ext cx="109901" cy="109901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143000" y="5546090"/>
            <a:ext cx="1072986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304"/>
              </a:lnSpc>
            </a:pPr>
            <a:r>
              <a:rPr sz="1800" b="1">
                <a:solidFill>
                  <a:srgbClr val="1B2A4A"/>
                </a:solidFill>
                <a:latin typeface="Segoe UI"/>
              </a:rPr>
              <a:t>Dalil saqlash.: </a:t>
            </a:r>
            <a:r>
              <a:rPr sz="1800" b="0">
                <a:solidFill>
                  <a:srgbClr val="1B2A4A"/>
                </a:solidFill>
                <a:latin typeface="Segoe UI"/>
              </a:rPr>
              <a:t>Skrinshotda xabar matni, yuboruvchi nomi va sana ko‘rinishi kerak.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xavfsizligi · 45-mavzu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6 / 9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2F68B8"/>
                </a:solidFill>
                <a:latin typeface="Segoe UI"/>
              </a:rPr>
              <a:t>3-REJA · GURUH UCHUN KIBERETIKA KODEKSINI ISHLAB CHIQISH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Kiberetika kodeksi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70053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673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70"/>
              </a:lnSpc>
            </a:pPr>
            <a:r>
              <a:rPr sz="1900" b="0">
                <a:solidFill>
                  <a:srgbClr val="3A4560"/>
                </a:solidFill>
                <a:latin typeface="Segoe UI"/>
              </a:rPr>
              <a:t>Guruh birgalikda o‘z chatlari va onlayn muloqoti uchun kodeks yozadi. Kodeks qisqa, aniq va ijobiy</a:t>
            </a:r>
            <a:br/>
            <a:r>
              <a:rPr sz="1900" b="0">
                <a:solidFill>
                  <a:srgbClr val="3A4560"/>
                </a:solidFill>
                <a:latin typeface="Segoe UI"/>
              </a:rPr>
              <a:t>shaklda bo‘lishi kerak.</a:t>
            </a:r>
          </a:p>
        </p:txBody>
      </p:sp>
      <p:graphicFrame>
        <p:nvGraphicFramePr>
          <p:cNvPr id="39" name="Table 38"/>
          <p:cNvGraphicFramePr>
            <a:graphicFrameLocks noGrp="1"/>
          </p:cNvGraphicFramePr>
          <p:nvPr/>
        </p:nvGraphicFramePr>
        <p:xfrm>
          <a:off x="731520" y="2501138"/>
          <a:ext cx="10728655" cy="29070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75743"/>
                <a:gridCol w="9552912"/>
              </a:tblGrid>
              <a:tr h="484505"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№</a:t>
                      </a:r>
                    </a:p>
                  </a:txBody>
                  <a:tcPr marL="109728" marR="109728" marT="73152" marB="73152">
                    <a:solidFill>
                      <a:srgbClr val="2F68B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Qoida namunasi</a:t>
                      </a:r>
                    </a:p>
                  </a:txBody>
                  <a:tcPr marL="109728" marR="109728" marT="73152" marB="73152">
                    <a:solidFill>
                      <a:srgbClr val="2F68B8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1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Biz bir-birimizga hurmat bilan yozamiz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2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Birovning rasmini uning roziligisiz joylamaymiz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3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Tekshirilmagan xabarlarni tarqatmaymiz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4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Kimdir kamsitilsa, jim turmaymiz — qo‘llab-quvvatlaymiz va xabar…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5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Sun’iy intellektdan halol foydalanamiz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xavfsizligi · 45-mavzu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7 / 9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2F68B8"/>
                </a:solidFill>
                <a:latin typeface="Segoe UI"/>
              </a:rPr>
              <a:t>45-MAVZU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Asosiy atamalar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731520" y="1645158"/>
            <a:ext cx="10728655" cy="2080641"/>
          </a:xfrm>
          <a:prstGeom prst="roundRect">
            <a:avLst>
              <a:gd name="adj" fmla="val 3515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31520" y="1645158"/>
            <a:ext cx="73152" cy="2080641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05840" y="1809750"/>
            <a:ext cx="10682313" cy="36702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529"/>
              </a:lnSpc>
            </a:pPr>
            <a:r>
              <a:rPr sz="2200" b="1">
                <a:solidFill>
                  <a:srgbClr val="1B2A4A"/>
                </a:solidFill>
                <a:latin typeface="Georgia"/>
              </a:rPr>
              <a:t>Axloqiy dilemma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05840" y="2222500"/>
            <a:ext cx="10682313" cy="3594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70"/>
              </a:lnSpc>
            </a:pPr>
            <a:r>
              <a:rPr sz="1900" b="0">
                <a:solidFill>
                  <a:srgbClr val="3A4560"/>
                </a:solidFill>
                <a:latin typeface="Segoe UI"/>
              </a:rPr>
              <a:t>Har bir variant qandaydir qiymatni buzadigan, to‘g‘ri yo‘lni tanlash qiyin bo‘lgan vaziyat.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731520" y="3954398"/>
            <a:ext cx="10728655" cy="2080641"/>
          </a:xfrm>
          <a:prstGeom prst="roundRect">
            <a:avLst>
              <a:gd name="adj" fmla="val 3515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731520" y="3954398"/>
            <a:ext cx="73152" cy="2080641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005840" y="4118990"/>
            <a:ext cx="10682313" cy="36702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529"/>
              </a:lnSpc>
            </a:pPr>
            <a:r>
              <a:rPr sz="2200" b="1">
                <a:solidFill>
                  <a:srgbClr val="1B2A4A"/>
                </a:solidFill>
                <a:latin typeface="Georgia"/>
              </a:rPr>
              <a:t>Kiberetika kodeksi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05840" y="4531740"/>
            <a:ext cx="10682313" cy="3594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70"/>
              </a:lnSpc>
            </a:pPr>
            <a:r>
              <a:rPr sz="1900" b="0">
                <a:solidFill>
                  <a:srgbClr val="3A4560"/>
                </a:solidFill>
                <a:latin typeface="Segoe UI"/>
              </a:rPr>
              <a:t>Jamoa a’zolari raqamli muhitda amal qilishga kelishib olgan axloqiy qoidalar to‘plami.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xavfsizligi · 45-mavzu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8 / 9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2F68B8"/>
                </a:solidFill>
                <a:latin typeface="Segoe UI"/>
              </a:rPr>
              <a:t>45-MAVZU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Mustahkamlash uchun savollar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45283" y="1720821"/>
            <a:ext cx="284537" cy="28453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 rot="2700000">
            <a:off x="845283" y="1720821"/>
            <a:ext cx="284537" cy="28453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86384" y="175336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417320" y="1645158"/>
            <a:ext cx="10206825" cy="474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Axloqiy dilemma nima?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45283" y="2332961"/>
            <a:ext cx="284537" cy="28453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 rot="2700000">
            <a:off x="845283" y="2332961"/>
            <a:ext cx="284537" cy="28453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86384" y="236550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2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417320" y="2257298"/>
            <a:ext cx="10206825" cy="474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Telegram’da foydalanuvchi qanday bloklanadi?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45283" y="2945101"/>
            <a:ext cx="284537" cy="28453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 rot="2700000">
            <a:off x="845283" y="2945101"/>
            <a:ext cx="284537" cy="28453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86384" y="297764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3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417320" y="2869438"/>
            <a:ext cx="10206825" cy="904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Instagram’dagi «Ограничить» funksiyasi bloklashdan nimasi bilan</a:t>
            </a:r>
            <a:br/>
            <a:r>
              <a:rPr sz="2600" b="0">
                <a:solidFill>
                  <a:srgbClr val="1B2A4A"/>
                </a:solidFill>
                <a:latin typeface="Segoe UI"/>
              </a:rPr>
              <a:t>farq qiladi?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45283" y="3986501"/>
            <a:ext cx="284537" cy="28453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 rot="2700000">
            <a:off x="845283" y="3986501"/>
            <a:ext cx="284537" cy="28453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86384" y="401904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4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417320" y="3910838"/>
            <a:ext cx="10206825" cy="474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Kiberbulling dalili sifatidagi skrinshotda nimalar ko‘rinishi kerak?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45283" y="4598641"/>
            <a:ext cx="284537" cy="28453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 rot="2700000">
            <a:off x="845283" y="4598641"/>
            <a:ext cx="284537" cy="28453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86384" y="463118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5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417320" y="4522978"/>
            <a:ext cx="10206825" cy="474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Kiberetika kodeksi qanday tuziladi?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xavfsizligi · 45-mavzu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9 / 9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481505" y="1625937"/>
            <a:ext cx="1228684" cy="1228684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 rot="2700000">
            <a:off x="5481505" y="1625937"/>
            <a:ext cx="1228684" cy="1228684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740175" y="1884608"/>
            <a:ext cx="711343" cy="711343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 rot="2700000">
            <a:off x="5740175" y="1884608"/>
            <a:ext cx="711343" cy="711343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31520" y="3429000"/>
            <a:ext cx="11157801" cy="680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5000"/>
              </a:lnSpc>
            </a:pPr>
            <a:r>
              <a:rPr sz="4000" b="1">
                <a:solidFill>
                  <a:srgbClr val="1B2A4A"/>
                </a:solidFill>
                <a:latin typeface="Georgia"/>
              </a:rPr>
              <a:t>E’tiboringiz uchun rahmat!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31520" y="4251960"/>
            <a:ext cx="11157801" cy="3632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500"/>
              </a:lnSpc>
            </a:pPr>
            <a:r>
              <a:rPr sz="2000" b="0">
                <a:solidFill>
                  <a:srgbClr val="3A4560"/>
                </a:solidFill>
                <a:latin typeface="Segoe UI"/>
              </a:rPr>
              <a:t>Savollaringiz bo‘lsa, marhamat.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31520" y="4892040"/>
            <a:ext cx="11157801" cy="299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00"/>
              </a:lnSpc>
            </a:pPr>
            <a:r>
              <a:rPr sz="1600" b="1">
                <a:solidFill>
                  <a:srgbClr val="2F68B8"/>
                </a:solidFill>
                <a:latin typeface="Segoe UI"/>
              </a:rPr>
              <a:t>Oydin Tashtemirova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45-mavzu. Axborotdan mas’uliyatli foydalanish va kiberetika qoidalarini qo‘llash</dc:title>
  <dc:subject/>
  <dc:creator>Oydin Tashtemirova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